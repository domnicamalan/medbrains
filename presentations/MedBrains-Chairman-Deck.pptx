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92608" cy="292608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Fraunces"/>
              </a:rPr>
              <a:t>Med</a:t>
            </a:r>
            <a:r>
              <a:rPr sz="2200" b="0" i="1">
                <a:solidFill>
                  <a:srgbClr val="B8924A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BOARD BRIEFING  ·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Fraunces"/>
              </a:rPr>
              <a:t>The HIS we </a:t>
            </a:r>
            <a:r>
              <a:rPr sz="6400" b="0" i="1">
                <a:solidFill>
                  <a:srgbClr val="B8924A"/>
                </a:solidFill>
                <a:latin typeface="Fraunces"/>
              </a:rPr>
              <a:t>already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ter Tight"/>
              </a:rPr>
              <a:t>Why MedBrains — built in-house — outperforms the ₹30–70 L vendor proposals on cost, scope, time-to-deploy, and strategic ownership.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69280"/>
            <a:ext cx="10972800" cy="9525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40">
                <a:solidFill>
                  <a:srgbClr val="B8924A"/>
                </a:solidFill>
                <a:latin typeface="JetBrains Mono"/>
              </a:rPr>
              <a:t>FOR THE CHAIRMAN AND HOSPITAL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40">
                <a:solidFill>
                  <a:srgbClr val="B8924A"/>
                </a:solidFill>
                <a:latin typeface="JetBrains Mono"/>
              </a:rP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THE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Pay a vendor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₹30–70 L</a:t>
            </a:r>
            <a:r>
              <a:rPr sz="4000" b="0" i="0">
                <a:solidFill>
                  <a:srgbClr val="0F1412"/>
                </a:solidFill>
                <a:latin typeface="Fraunces"/>
              </a:rPr>
              <a:t> — or deploy what we have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Three vendor proposals on the table. Earliest start: July 2026. Meanwhile MedBrains is operational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38100" cy="2560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8102E"/>
                </a:solidFill>
                <a:latin typeface="JetBrains Mono"/>
              </a:rPr>
              <a:t>OPTION A — EXTERNAL VENDOR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40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657600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₹30 L – ₹70 L upfront licence +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41648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50208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AMC 18–22 % per year (₹6–15 L recurring)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34256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242816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Delivery starts July; 6–12 months to go-live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26864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535424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Closed-source binary; vendor owns the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19472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828032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Customisation ₹50 K – ₹2 L per change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120640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Per-hospital re-licence on multi-site expansion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00400"/>
            <a:ext cx="38100" cy="2560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OPTION B — MEDBRAINS (BUILT)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749040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657600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₹0 licence cost; runs on hospital 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041648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950208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Maintenance by internal team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334256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242816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Operational now — UAT-ready, not a roadmap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626864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4535424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Source code + IP held in-house — strategic options open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919472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828032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Customisation same-day, in-house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212080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5120640"/>
            <a:ext cx="5010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F1412"/>
                </a:solidFill>
                <a:latin typeface="Inter Tight"/>
              </a:rPr>
              <a:t>Unlimited hospitals at zero marginal licence cost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555C58"/>
                </a:solidFill>
                <a:latin typeface="JetBrains Mono"/>
              </a:rPr>
              <a:t>MEDBRAINS HIS  ·  IN-HOUSE BUILD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555C58"/>
                </a:solidFill>
                <a:latin typeface="JetBrains Mono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WHAT WE HAVE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0F1412"/>
                </a:solidFill>
                <a:latin typeface="Fraunces"/>
              </a:rPr>
              <a:t>A working hospital platform — </a:t>
            </a:r>
            <a:r>
              <a:rPr sz="3800" b="0" i="1">
                <a:solidFill>
                  <a:srgbClr val="B8924A"/>
                </a:solidFill>
                <a:latin typeface="Fraunces"/>
              </a:rPr>
              <a:t>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Numbers are measured against the working repository, not promised.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2743200" cy="18288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38100" cy="18288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F4332"/>
                </a:solidFill>
                <a:latin typeface="Fraunces"/>
              </a:rPr>
              <a:t>547,960</a:t>
            </a:r>
            <a:r>
              <a:rPr sz="3200" b="0" i="1">
                <a:solidFill>
                  <a:srgbClr val="B8924A"/>
                </a:solidFill>
                <a:latin typeface="Fraunce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55C58"/>
                </a:solidFill>
                <a:latin typeface="JetBrains Mono"/>
              </a:rPr>
              <a:t>LINES OF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108960"/>
            <a:ext cx="2743200" cy="18288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3108960"/>
            <a:ext cx="38100" cy="18288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4290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F4332"/>
                </a:solidFill>
                <a:latin typeface="Fraunces"/>
              </a:rPr>
              <a:t>77</a:t>
            </a:r>
            <a:r>
              <a:rPr sz="3200" b="0" i="1">
                <a:solidFill>
                  <a:srgbClr val="B8924A"/>
                </a:solidFill>
                <a:latin typeface="Fraunces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389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55C58"/>
                </a:solidFill>
                <a:latin typeface="JetBrains Mono"/>
              </a:rPr>
              <a:t>DATABASE MIGRATIONS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2743200" cy="18288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38100" cy="18288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290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F4332"/>
                </a:solidFill>
                <a:latin typeface="Fraunces"/>
              </a:rPr>
              <a:t>125</a:t>
            </a:r>
            <a:r>
              <a:rPr sz="3200" b="0" i="1">
                <a:solidFill>
                  <a:srgbClr val="B8924A"/>
                </a:solidFill>
                <a:latin typeface="Fraunces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55C58"/>
                </a:solidFill>
                <a:latin typeface="JetBrains Mono"/>
              </a:rPr>
              <a:t>BACKEND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108960"/>
            <a:ext cx="2743200" cy="18288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3108960"/>
            <a:ext cx="38100" cy="18288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42900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F4332"/>
                </a:solidFill>
                <a:latin typeface="Fraunces"/>
              </a:rPr>
              <a:t>138</a:t>
            </a:r>
            <a:r>
              <a:rPr sz="3200" b="0" i="1">
                <a:solidFill>
                  <a:srgbClr val="B8924A"/>
                </a:solidFill>
                <a:latin typeface="Fraunces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389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55C58"/>
                </a:solidFill>
                <a:latin typeface="JetBrains Mono"/>
              </a:rPr>
              <a:t>FRONTEND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F4332"/>
                </a:solidFill>
                <a:latin typeface="Fraunces"/>
              </a:rPr>
              <a:t>48.5%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feature catalogue covered (1,596 of 3,291)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F4332"/>
                </a:solidFill>
                <a:latin typeface="Fraunces"/>
              </a:rPr>
              <a:t>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623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modules ≥80% feature-complete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F4332"/>
                </a:solidFill>
                <a:latin typeface="Fraunces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623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regulatory frameworks integrated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F4332"/>
                </a:solidFill>
                <a:latin typeface="Fraunce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5623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platforms — Web, Mobile, TV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555C58"/>
                </a:solidFill>
                <a:latin typeface="JetBrains Mono"/>
              </a:rPr>
              <a:t>MEDBRAINS HIS  ·  IN-HOUSE BUILD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555C58"/>
                </a:solidFill>
                <a:latin typeface="JetBrains Mono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FIVE-YEAR COST —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₹1.25 Cr saved.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Per hospital.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JetBrains Mono"/>
              </a:rPr>
              <a:t>LINE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0906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JetBrains Mono"/>
              </a:rPr>
              <a:t>VENDOR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0906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MEDBRAINS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1274552" cy="420624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02152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Implementation / licence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50215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Inter Tight"/>
              </a:rPr>
              <a:t>₹50,00,000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50215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₹0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03904"/>
            <a:ext cx="1127455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AMC × 5 years (10 L / yr)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22776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Inter Tight"/>
              </a:rPr>
              <a:t>₹50,00,000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22776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₹0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24528"/>
            <a:ext cx="11274552" cy="420624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Customisation budget (5 yr)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343400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Inter Tight"/>
              </a:rPr>
              <a:t>₹15,00,000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43400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Internal team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45152"/>
            <a:ext cx="1127455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Second hospital licence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764024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Inter Tight"/>
              </a:rPr>
              <a:t>₹35,00,000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64024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₹0 — unlimited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65776"/>
            <a:ext cx="11274552" cy="420624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84648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Mobile / TV add-on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184648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Inter Tight"/>
              </a:rPr>
              <a:t>₹10,00,000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184648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Included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86400"/>
            <a:ext cx="1127455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05272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Compliance gap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60527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Inter Tight"/>
              </a:rPr>
              <a:t>₹8,00,000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60527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Built-in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07024"/>
            <a:ext cx="11274552" cy="5029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441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JetBrains Mono"/>
              </a:rPr>
              <a:t>FIVE-YEAR TCO (PER HOSPITAL)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599846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B8924A"/>
                </a:solidFill>
                <a:latin typeface="Fraunces"/>
              </a:rPr>
              <a:t>₹1.68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99846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Fraunces"/>
              </a:rPr>
              <a:t>₹0 licence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555C58"/>
                </a:solidFill>
                <a:latin typeface="JetBrains Mono"/>
              </a:rPr>
              <a:t>MEDBRAINS HIS  ·  IN-HOUSE BUILD  ·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555C58"/>
                </a:solidFill>
                <a:latin typeface="JetBrains Mono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STRATEGIC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Three paths —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management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Adopting MedBrains today does not lock in any path. The platform is built; how it is positioned commercially is a separate decision the board can take later.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3703320" cy="30175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0800" cy="30175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PATH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F1412"/>
                </a:solidFill>
                <a:latin typeface="Fraunces"/>
              </a:rPr>
              <a:t>Internal use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434840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34340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Run MedBrains across our own hospital(s).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18888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727448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external distribution, no licensing.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202936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5111496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Lowest disclosure, full control of roadmap.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586984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495544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Cost saving = vendor TCO replaced.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200400"/>
            <a:ext cx="3703320" cy="30175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200400"/>
            <a:ext cx="50800" cy="30175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3832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PATH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7033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F1412"/>
                </a:solidFill>
                <a:latin typeface="Fraunces"/>
              </a:rPr>
              <a:t>Open-source release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4434840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434340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Publish under a permissive or copyleft licence.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818888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4727448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Build community, attract contributors, set the standard.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5202936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7448" y="5111496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Reduces long-term maintenance burden.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5586984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5495544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Brand value as a healthcare-tech leader.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200400"/>
            <a:ext cx="3703320" cy="30175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200400"/>
            <a:ext cx="50800" cy="3017520"/>
          </a:xfrm>
          <a:prstGeom prst="rect">
            <a:avLst/>
          </a:prstGeom>
          <a:solidFill>
            <a:srgbClr val="0D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3832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D2417"/>
                </a:solidFill>
                <a:latin typeface="JetBrains Mono"/>
              </a:rPr>
              <a:t>PATH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7033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F1412"/>
                </a:solidFill>
                <a:latin typeface="Fraunces"/>
              </a:rPr>
              <a:t>Commercial product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4434840"/>
            <a:ext cx="76200" cy="76200"/>
          </a:xfrm>
          <a:prstGeom prst="rect">
            <a:avLst/>
          </a:prstGeom>
          <a:solidFill>
            <a:srgbClr val="0D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7928" y="434340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Licence MedBrains to peer hospitals / chains.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4818888"/>
            <a:ext cx="76200" cy="76200"/>
          </a:xfrm>
          <a:prstGeom prst="rect">
            <a:avLst/>
          </a:prstGeom>
          <a:solidFill>
            <a:srgbClr val="0D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7928" y="4727448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Recurring revenue stream — SaaS or per-bed.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5202936"/>
            <a:ext cx="76200" cy="76200"/>
          </a:xfrm>
          <a:prstGeom prst="rect">
            <a:avLst/>
          </a:prstGeom>
          <a:solidFill>
            <a:srgbClr val="0D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5111496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Spin-out vehicle possible; investor optionality.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5586984"/>
            <a:ext cx="76200" cy="76200"/>
          </a:xfrm>
          <a:prstGeom prst="rect">
            <a:avLst/>
          </a:prstGeom>
          <a:solidFill>
            <a:srgbClr val="0D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5495544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Competes directly with the vendors quoting us today.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C58"/>
                </a:solidFill>
                <a:latin typeface="Inter Tight"/>
              </a:rPr>
              <a:t>Today's decision: adopt internally. Path B and Path C remain open and need no commitment now.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555C58"/>
                </a:solidFill>
                <a:latin typeface="JetBrains Mono"/>
              </a:rPr>
              <a:t>MEDBRAINS HIS  ·  IN-HOUSE BUILD  ·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555C58"/>
                </a:solidFill>
                <a:latin typeface="JetBrains Mono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RECOMMENDATION &amp;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Fraunces"/>
              </a:rPr>
              <a:t>Decline the vendor proposal. </a:t>
            </a:r>
            <a:r>
              <a:rPr sz="3800" b="0" i="1">
                <a:solidFill>
                  <a:srgbClr val="B8924A"/>
                </a:solidFill>
                <a:latin typeface="Fraunces"/>
              </a:rPr>
              <a:t>Adopt MedBrains.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 Tight"/>
              </a:rPr>
              <a:t>Three decisions. One meeting.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7033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50800" cy="246888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B8924A"/>
                </a:solidFill>
                <a:latin typeface="Fraunce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69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4332"/>
                </a:solidFill>
                <a:latin typeface="Fraunces"/>
              </a:rPr>
              <a:t>Endorsement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Board endorses MedBrains as the HIS in use. Vendor proposals declined or repositioned to integration-only.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291840"/>
            <a:ext cx="37033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291840"/>
            <a:ext cx="50800" cy="246888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4747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B8924A"/>
                </a:solidFill>
                <a:latin typeface="Fraunce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069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4332"/>
                </a:solidFill>
                <a:latin typeface="Fraunces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80560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Approve internal-team operating budget for FY26 — delivery, infra, training. Capex avoided ≈ ₹50 L vs vendor.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291840"/>
            <a:ext cx="37033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291840"/>
            <a:ext cx="50800" cy="246888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4747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B8924A"/>
                </a:solidFill>
                <a:latin typeface="Fraunce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069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F4332"/>
                </a:solidFill>
                <a:latin typeface="Fraunces"/>
              </a:rPr>
              <a:t>Sponsor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80560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Name an executive sponsor and pilot department leads. UAT begins within 14 days of approval.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MEDBRAINS HIS  ·  IN-HOUSE BUILD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END OF MAIN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2745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0F1412"/>
                </a:solidFill>
                <a:latin typeface="Fraunces"/>
              </a:rPr>
              <a:t>Thank you. </a:t>
            </a:r>
            <a:r>
              <a:rPr sz="8000" b="0" i="1">
                <a:solidFill>
                  <a:srgbClr val="B8924A"/>
                </a:solidFill>
                <a:latin typeface="Fraunces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11274552" cy="9525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55C58"/>
                </a:solidFill>
                <a:latin typeface="Inter Tight"/>
              </a:rPr>
              <a:t>The slides that follow are reference material for the discussion.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Vendor reality · TCO breakdown · Module map · Feature matrix · Build value · Clinical · Compliance · Patient safety · Interop · Architecture · Security · Platforms · Speed · Risks · Timeline · Roadmap · Q&amp;A.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555C58"/>
                </a:solidFill>
                <a:latin typeface="JetBrains Mono"/>
              </a:rPr>
              <a:t>MEDBRAINS HIS  ·  IN-HOUSE BUILD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555C58"/>
                </a:solidFill>
                <a:latin typeface="JetBrains Mono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VENDOR REALITY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What the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₹50 L quote</a:t>
            </a:r>
            <a:r>
              <a:rPr sz="4000" b="0" i="0">
                <a:solidFill>
                  <a:srgbClr val="0F1412"/>
                </a:solidFill>
                <a:latin typeface="Fraunces"/>
              </a:rPr>
              <a:t> actually buys.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Standard mid-tier India HIS scope based on Birlamedisoft, Insta, Medixcel, Suvarna comparable proposals.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54680"/>
            <a:ext cx="11274552" cy="36576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JetBrains Mono"/>
              </a:rP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2278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JetBrains Mono"/>
              </a:rPr>
              <a:t>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278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B8924A"/>
                </a:solidFill>
                <a:latin typeface="JetBrains Mono"/>
              </a:rPr>
              <a:t>MEDBRAINS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935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Modules in base licence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9359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10–15 (OPD, IPD, Pharmacy, Lab, Billing, HR, MRD basic)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935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38 modules ≥80% feature-complete · 62 in active build · 67+ planned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04488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Compliance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7764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Basic NABH, GST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97764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NABH+JCI checklists, NDPS, ABDM/NHCX, FHIR R4, GST+TDS, NABL, AERB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88536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61688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Patient-safety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6168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Allergy alerts (basic)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61688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IPSG, LASA, drug-interaction, dose-validation, consent 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72584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4573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Multi-tenant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4573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Rare; per-instance install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4573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PostgreSQL RLS + 7-layer config native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56632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29784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Mobile / TV display apps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12978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Add-on, ₹5–15 L extra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129784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Web + Mobile (RN) + TV (Android TV) in scope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51383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Customisation turnaround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51383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Weeks; ₹50 K – ₹2 L per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51383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Same-day, in-house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24728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Source code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8978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Closed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89788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Held in-house — open-source / internal / commercial path open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FIVE-YEAR TOTAL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Vendor TCO is not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the quote.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A ₹50 L proposal compounds into ₹1.25 Cr+ over five years — before any second hospital.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914400" cy="82296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B8924A"/>
                </a:solidFill>
                <a:latin typeface="Fraunces"/>
              </a:rPr>
              <a:t>₹50 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F1412"/>
                </a:solidFill>
                <a:latin typeface="Inter Tight"/>
              </a:rPr>
              <a:t>Year 0 impl.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9072" y="5029200"/>
            <a:ext cx="914400" cy="82296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4663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B8924A"/>
                </a:solidFill>
                <a:latin typeface="Fraunces"/>
              </a:rPr>
              <a:t>₹50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5897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F1412"/>
                </a:solidFill>
                <a:latin typeface="Inter Tight"/>
              </a:rPr>
              <a:t>AMC × 5 yr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8064" y="5605272"/>
            <a:ext cx="914400" cy="246888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4" y="5239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B8924A"/>
                </a:solidFill>
                <a:latin typeface="Fraunces"/>
              </a:rPr>
              <a:t>₹15 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5897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F1412"/>
                </a:solidFill>
                <a:latin typeface="Inter Tight"/>
              </a:rPr>
              <a:t>Custom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77056" y="5276088"/>
            <a:ext cx="914400" cy="576072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77056" y="4910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B8924A"/>
                </a:solidFill>
                <a:latin typeface="Fraunces"/>
              </a:rPr>
              <a:t>₹35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6" y="5897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F1412"/>
                </a:solidFill>
                <a:latin typeface="Inter Tight"/>
              </a:rPr>
              <a:t>2nd hospital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83280"/>
            <a:ext cx="914400" cy="24688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C8102E"/>
                </a:solidFill>
                <a:latin typeface="Fraunces"/>
              </a:rPr>
              <a:t>₹150 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5897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F1412"/>
                </a:solidFill>
                <a:latin typeface="Inter Tight"/>
              </a:rPr>
              <a:t>Vendor 5-yr TCO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806440"/>
            <a:ext cx="914400" cy="457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1F4332"/>
                </a:solidFill>
                <a:latin typeface="Fraunces"/>
              </a:rPr>
              <a:t>₹0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897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F1412"/>
                </a:solidFill>
                <a:latin typeface="Inter Tight"/>
              </a:rPr>
              <a:t>MedBrains 5-yr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52160"/>
            <a:ext cx="7772400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3200400"/>
            <a:ext cx="38100" cy="25603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200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B8924A"/>
                </a:solidFill>
                <a:latin typeface="JetBrains Mono"/>
              </a:rPr>
              <a:t>WHAT THE BAR DOES NOT SHOW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3703320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3611880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Productivity loss during 6–12 mo rollout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4032504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0848" y="3941064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Re-training cost on vendor 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361688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0848" y="4270248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Data export / migration on switch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4690872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0848" y="4599432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Lock-in premium on AMC renegotiation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5020056"/>
            <a:ext cx="76200" cy="762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0848" y="4928616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Per-site licence on hospital expansion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MODULE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0F1412"/>
                </a:solidFill>
                <a:latin typeface="Fraunces"/>
              </a:rPr>
              <a:t>Thirty-eight modules </a:t>
            </a:r>
            <a:r>
              <a:rPr sz="3800" b="0" i="1">
                <a:solidFill>
                  <a:srgbClr val="B8924A"/>
                </a:solidFill>
                <a:latin typeface="Fraunces"/>
              </a:rPr>
              <a:t>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Vendor packages typically ship 10–15. We are already past three vendor scopes.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CLINICAL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OPD  ·  IPD  ·  ICU  ·  Emergency  ·  OT  ·  Doctor Dashboard  ·  CPOE Order Sets  ·  Care View  ·  Bedside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301752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301752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0906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3832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Lab (Phase 1-3)  ·  Radiology  ·  Blood Bank  ·  CSSD  ·  BME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5935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PHARMACY &amp; SUPPLY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Pharmacy (Phase 2)  ·  NDPS Register  ·  Indent / Inventory (Phase 2)  ·  Procurement  ·  Stores &amp; Transfers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388620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388620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95935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PATIENT &amp; FRONT OFFICE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2519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Patient Mgmt  ·  Appointments  ·  Front Office &amp; Queue  ·  Camp Management  ·  Communications / DLT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Billing (Phase 3)  ·  GST / TDS / GSTR  ·  Bank Reconciliation  ·  Journal &amp; GL  ·  Insurance / TPA / NHCX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475488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3912" y="475488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82803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WORKFORCE &amp;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12064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HR &amp; Staff  ·  Quality (NABH)  ·  Infection Control  ·  Consent Mgmt  ·  MRD  ·  Audit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2356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62356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9671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OPERATIONS &amp;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Facilities (MGPS, Fire, Water, Energy)  ·  Housekeeping  ·  Diet &amp; Kitchen  ·  Regulatory  ·  Occ. Health  ·  ABDM / FHIR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5623560"/>
            <a:ext cx="5577840" cy="77724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5623560"/>
            <a:ext cx="38100" cy="77724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569671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598932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Multi-Hospital  ·  Print Engine  ·  Dashboard Builder  ·  Screen Builder  ·  TV Displays  ·  Onboarding &amp; Setup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FEATURE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Vendor scope vs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MedBrains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Tick = available out of the box. Cross = quoted as add-on or out of 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74552" cy="329184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JetBrains Mono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154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FFFFFF"/>
                </a:solidFill>
                <a:latin typeface="JetBrains Mono"/>
              </a:rPr>
              <a:t>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3154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B8924A"/>
                </a:solidFill>
                <a:latin typeface="JetBrains Mono"/>
              </a:rPr>
              <a:t>MEDBRAINS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38144"/>
            <a:ext cx="11274552" cy="29260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83864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OPD, IPD, Pharmacy, Lab, Billing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48386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48386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11274552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ICU bedside, OT scheduling, Emergency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7647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77647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11274552" cy="29260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Blood Bank, CSSD, Diet, BME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0690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0690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15968"/>
            <a:ext cx="11274552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6168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NDPS register · Schedule H/H1/X enforcement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3616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3616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08576"/>
            <a:ext cx="11274552" cy="29260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654296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ABDM / NHCX integration · Health-ID linking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65429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65429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01184"/>
            <a:ext cx="11274552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46904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FHIR R4 export · DICOM · HL7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94690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94690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93792"/>
            <a:ext cx="11274552" cy="29260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239512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GST, TDS, GSTR returns, bank reconciliation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23951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23951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486400"/>
            <a:ext cx="11274552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53212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Multi-tenant · 7-layer hierarchical 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5321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55321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779008"/>
            <a:ext cx="11274552" cy="29260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2472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Mobile app (RN) and TV displays in 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82472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582472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071616"/>
            <a:ext cx="11274552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117336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NABH + JCI checklists, audit, evidence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611733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611733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364224"/>
            <a:ext cx="11274552" cy="29260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09944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Source code held in-house · strategic options preserved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640994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Inter Tight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640994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4332"/>
                </a:solidFill>
                <a:latin typeface="Inter Tight"/>
              </a:rP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BUILD VALUE REALISED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What this asset is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worth.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Five independent valuation methods. All point upward of the highest vendor quote.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38100" cy="64008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Per-feature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1,360 Done × ₹4 K + 236 Partial × ₹2 K, India dev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0" i="0">
                <a:solidFill>
                  <a:srgbClr val="1F4332"/>
                </a:solidFill>
                <a:latin typeface="Fraunces"/>
              </a:rPr>
              <a:t>₹59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1127455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38100" cy="64008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587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Per-module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38 modules × ₹5 L mid-tier outsourced build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86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0" i="0">
                <a:solidFill>
                  <a:srgbClr val="1F4332"/>
                </a:solidFill>
                <a:latin typeface="Fraunces"/>
              </a:rPr>
              <a:t>₹1.9 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274552" cy="6400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38100" cy="64008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988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LOC × ₹40 (conservative)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Production-grade code at the lower end of India rates.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26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0" i="0">
                <a:solidFill>
                  <a:srgbClr val="1F4332"/>
                </a:solidFill>
                <a:latin typeface="Fraunces"/>
              </a:rPr>
              <a:t>₹2.19 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127455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38100" cy="64008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389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LOC × ₹100 (skilled)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94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Skilled full-stack rate including tests and migrations.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66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0" i="0">
                <a:solidFill>
                  <a:srgbClr val="1F4332"/>
                </a:solidFill>
                <a:latin typeface="Fraunces"/>
              </a:rPr>
              <a:t>₹5.48 Cr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11274552" cy="6400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38100" cy="64008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7790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Vendor TCO replaced (5 yr)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35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₹50 L impl + ₹50 L AMC + ₹15 L customisation + ₹10 L per extra site.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806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0" i="0">
                <a:solidFill>
                  <a:srgbClr val="B8924A"/>
                </a:solidFill>
                <a:latin typeface="Fraunces"/>
              </a:rPr>
              <a:t>₹1.25 Cr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CLINICAL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0F1412"/>
                </a:solidFill>
                <a:latin typeface="Fraunces"/>
              </a:rPr>
              <a:t>Care covered end-to-end — </a:t>
            </a:r>
            <a:r>
              <a:rPr sz="3800" b="0" i="1">
                <a:solidFill>
                  <a:srgbClr val="B8924A"/>
                </a:solidFill>
                <a:latin typeface="Fraunces"/>
              </a:rPr>
              <a:t>OPD to discharge.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OPD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Queue, doctor dashboard, CPOE order sets, e-prescription, follow-ups, repeat-Rx.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3017520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3017520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52044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Admission, bed-state, structured nursing notes, MAR, vitals, restraint, discharge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3017520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3017520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52044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Bedside vitals, device pairing, handoff, family communication, structured rounds.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6" y="3017520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6" y="3017520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Emergency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52044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Triage, MLC documentation, code blue/red/pink workflow, disposition, time-stamped audit.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53712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53712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908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56632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Scheduling, anaesthesia, surgical consent, OT analytics — surgeon caseload, complications.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9272" y="4553712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4553712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46908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5056632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Phlebotomy queue, batch QC (Levey-Jennings + Westgard), critical alerts, NABL records, B2B.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4553712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4553712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46908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Radiology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5056632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Order, report, PACS-ready, AERB compliance hooks, PCPNDT lockdown.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6" y="4553712"/>
            <a:ext cx="2743200" cy="14173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6" y="4553712"/>
            <a:ext cx="38100" cy="14173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6296" y="46908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Pharmacy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5056632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OTC, in-patient, discharge, NDPS dual register, batch FEFO, formulary, AWaRe stewardship.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COMPLIANCE BUILT-IN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Regulation is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not a roadmap item.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Indian healthcare law and accreditation are enforced in code, not bolted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NDPS Act 1985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2004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Dual-lock register, dispensing audit, daily reconciliation.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D&amp;C Act / Schedules H, H1,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6118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Schedule-aware dispensing checks; Rx duplicate enforcement.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PCPNDT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023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Sex-determination block, audit trail on every imaging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NABH + JCI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348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34 department checklists, 700+ criteria, evidence engine.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463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ABDM / NHCX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8463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Health-ID linking, claims exchange, callback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578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HL7 FHIR R4 + DICOM + HL7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2578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Interoperability ready; not a future task.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692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GST + TDS + GSTR + HSN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6692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Returns generation, TDS deposit, certificate, ERP export.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0807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PNDT, MTP, MHCA, BMW 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0807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Domain rules embedded in module business logic.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PATIENT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Six IPSGs,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automated.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11274552" cy="5029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38100" cy="5029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2783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IPSG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7355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Patient identification (UHID + 2nd identifier on every action)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1127455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38100" cy="5029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3075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IPSG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7647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Effective communication — read-back, SBAR, structured handoff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1274552" cy="5029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38100" cy="5029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3367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IPSG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7939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High-alert medication safety — LASA flags, dose ranges by age/weight/renal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127455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38100" cy="5029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3659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IPSG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8231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Surgical safety — site marking, time-out, sign-out checklists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11274552" cy="5029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38100" cy="5029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3951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IPSG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28523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Infection prevention — hand-hygiene, HAI surveillance, antibiogram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623560"/>
            <a:ext cx="38100" cy="5029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IPSG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78815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Falls prevention — risk score, reassessment, alert escalation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INTEROPERABILITY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Speaks every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C58"/>
                </a:solidFill>
                <a:latin typeface="Inter Tight"/>
              </a:rPr>
              <a:t>No vendor portal lock-in. Data exits cleanly; partners plug in cleanly.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ABDM / NHCX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Health-ID, consent manager, claims exchange callback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310896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HL7 FHIR R4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6118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Patient, Encounter, Observation, MedicationRequest, Claim.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310896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DICOM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6118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Imaging instance routing; PACS-ready storage hooks.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310896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HL7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36118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Lab analyser interfaces, ADT messaging.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07992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45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LOINC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Lab test catalogue keyed for cross-lab interop.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4507992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2152" y="4645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ICD-10 /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501091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Diagnoses with WHO coding.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4507992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4645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WHO ATC + INN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501091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Drug catalogue with international nonproprietary names.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3416" y="4507992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4645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RxNorm-ready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5010912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Cross-mapping for global drug master.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Modern stack vs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legacy vendor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329184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JetBrains Mono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9" y="3063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JetBrains Mono"/>
              </a:rPr>
              <a:t>TYPICAL VENDOR 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063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B8924A"/>
                </a:solidFill>
                <a:latin typeface="JetBrains Mono"/>
              </a:rPr>
              <a:t>MEDBRAINS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46704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Backend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39" y="3438144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PHP / .NET / legacy Java (most India HIS)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438144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Rust 2024 — memory safe, no nulls, compile-time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30752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2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Web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8221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Server-rendered, jQuery / WebForms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221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Axum 0.8 + Tower, async, typed routes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39" y="420624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Bootstrap 3, jQuery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0624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React 18 + Mantine v7 + TanStack Query v5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98848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90288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39" y="4590288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MySQL / MSSQL, single-tenant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590288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PostgreSQL 16 with RLS + YottaDB for hierarchical 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82896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74336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Multi-tenant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9" y="497433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Per-instance install, no 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974336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Native RLS, transaction-scoped tenant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66944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58384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39" y="5358384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Session cookies, MD5 hashes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58384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Ed25519 JWT, Argon2id, 743-permission RBAC across 55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50992"/>
            <a:ext cx="11274552" cy="38404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42432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CI /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39" y="574243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Manual QA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74243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Compile-time SQL checks, Playwright E2E, contract checks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35040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126480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Cross-platform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39" y="612648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C58"/>
                </a:solidFill>
                <a:latin typeface="Inter Tight"/>
              </a:rPr>
              <a:t>Web only or paid mobile add-on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612648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Web + React Native CLI mobile + Android TV — one codebase tree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Defence in depth —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not a checkbox.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Database row-level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004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PostgreSQL RLS enforced at every transaction. No accidental cross-tenant leak.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6118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Ed25519 JWT, Argon2id password hashing — both modern, audited primitives.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Authorisation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023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743 typed permissions across 55 modules; per-user override (extra / denied).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4348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Append-only audit table, partitioned, signed where regulatory requires.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Break-glass + scope expiry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8463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Emergency access controlled, time-limited, logged.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6636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578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Data residency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2578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Self-hosted; runs on hospital infrastructure or chosen Indian region.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11274552" cy="41148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6692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6692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TLS in transit, at-rest via PostgreSQL TDE/disk encryption per deployment.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0807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412"/>
                </a:solidFill>
                <a:latin typeface="Inter Tight"/>
              </a:rPr>
              <a:t>Backup + 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60807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C58"/>
                </a:solidFill>
                <a:latin typeface="Inter Tight"/>
              </a:rPr>
              <a:t>Idempotent migrations, point-in-time recovery, ARM starter + multi-region path.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THREE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Web, mobile, TV —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one codebase tree.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3703320" cy="30175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38100" cy="30175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F4332"/>
                </a:solidFill>
                <a:latin typeface="Fraunces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B8924A"/>
                </a:solidFill>
                <a:latin typeface="JetBrains Mono"/>
              </a:rPr>
              <a:t>MANTINE V7 + SCSS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3337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Doctor, nurse, admin, billing, pharmacy, lab — full ops UI. 138 pages.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108960"/>
            <a:ext cx="3703320" cy="30175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108960"/>
            <a:ext cx="38100" cy="30175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F4332"/>
                </a:solidFill>
                <a:latin typeface="Fraunces"/>
              </a:rPr>
              <a:t>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B8924A"/>
                </a:solidFill>
                <a:latin typeface="JetBrains Mono"/>
              </a:rPr>
              <a:t>REACT NATIVE CLI + PAPER V5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389120"/>
            <a:ext cx="3337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Doctor rounds, nurse charting, patient bedside portal, ambulance triage. New Architecture, offline-first WatermelonDB.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108960"/>
            <a:ext cx="3703320" cy="30175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3108960"/>
            <a:ext cx="38100" cy="301752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29184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F4332"/>
                </a:solidFill>
                <a:latin typeface="Fraunces"/>
              </a:rPr>
              <a:t>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776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B8924A"/>
                </a:solidFill>
                <a:latin typeface="JetBrains Mono"/>
              </a:rPr>
              <a:t>REACT NATIVE ANDROID 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389120"/>
            <a:ext cx="3337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OPD queue boards, IPD bed status dashboards, OT scheduler, kitchen display, digital signage.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SPEED OF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A request becomes a feature in </a:t>
            </a:r>
            <a:r>
              <a:rPr sz="3600" b="0" i="1">
                <a:solidFill>
                  <a:srgbClr val="B8924A"/>
                </a:solidFill>
                <a:latin typeface="Fraunces"/>
              </a:rPr>
              <a:t>hours, not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38100" cy="3108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8102E"/>
                </a:solidFill>
                <a:latin typeface="JetBrains Mono"/>
              </a:rPr>
              <a:t>VENDOR CHANGE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Day 0 — Raise change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86784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895344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Day 3–7 — Vendor scoping + quote (₹50 K – ₹2 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15968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24528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Day 7–14 — PO approval cycle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45152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553712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Day 14–35 — Vendor development + QA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74336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82896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Day 35–45 — UAT + deploy on next release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03519"/>
            <a:ext cx="76200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212079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Outcome: 4–6 weeks per non-trivial 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08960"/>
            <a:ext cx="38100" cy="310896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MEDBRAINS CHANGE 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657600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566160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Hour 0 — Department raises request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986784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895344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Hour 1 — In-house team triages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315968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224528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Hour 2–8 — Build + tests (Playwright + Rust clippy)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645152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4553712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Hour 8 — Staging deploy + UAT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974336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4882896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Hour 24 — Production rollout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303519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5212079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Outcome: same-day to next-day per change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VENDOR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Five risks the vendor proposal does </a:t>
            </a:r>
            <a:r>
              <a:rPr sz="3600" b="0" i="1">
                <a:solidFill>
                  <a:srgbClr val="B8924A"/>
                </a:solidFill>
                <a:latin typeface="Fraunces"/>
              </a:rPr>
              <a:t>not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11274552" cy="56692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3810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27832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Inter Tight"/>
              </a:rPr>
              <a:t>Lock-in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7355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Closed source, vendor-specific schema. Switching costs near-equal to a new build.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75888"/>
            <a:ext cx="1127455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75888"/>
            <a:ext cx="3810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Inter Tight"/>
              </a:rPr>
              <a:t>AMC creep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84048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Renegotiation power sits with the vendor. 18–22 % per year compounds.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42816"/>
            <a:ext cx="11274552" cy="56692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42816"/>
            <a:ext cx="3810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61688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Inter Tight"/>
              </a:rPr>
              <a:t>Scope erosion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0740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Mid-tier proposals exclude ICU, OT, NDPS, ABDM, FHIR — billed later or not at 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9744"/>
            <a:ext cx="1127455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09744"/>
            <a:ext cx="3810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286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Inter Tight"/>
              </a:rPr>
              <a:t>Delivery slip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74336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July start ≠ July go-live. Industry mean rollout: 9 months. Cash flows out before value lands.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76672"/>
            <a:ext cx="11274552" cy="56692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76672"/>
            <a:ext cx="3810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9554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Inter Tight"/>
              </a:rPr>
              <a:t>Compliance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41264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Vendor MVPs rarely include NDPS dual register, NABH evidence engine, GSTR generation. Hospital absorbs liability.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Vendor starts in July. We are </a:t>
            </a:r>
            <a:r>
              <a:rPr sz="3600" b="0" i="1">
                <a:solidFill>
                  <a:srgbClr val="B8924A"/>
                </a:solidFill>
                <a:latin typeface="Fraunces"/>
              </a:rPr>
              <a:t>operational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49039"/>
            <a:ext cx="10881360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4680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May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2816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Jun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0952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Jul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79088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Aug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7224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Sep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5360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Oct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3496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Nov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1632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2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Dec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19768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Jan'27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07904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67544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Feb'27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96040" y="3710939"/>
            <a:ext cx="50800" cy="101600"/>
          </a:xfrm>
          <a:prstGeom prst="rect">
            <a:avLst/>
          </a:prstGeom>
          <a:solidFill>
            <a:srgbClr val="55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388619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55C58"/>
                </a:solidFill>
                <a:latin typeface="JetBrains Mono"/>
              </a:rPr>
              <a:t>Mar'27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6352" y="2560319"/>
            <a:ext cx="8705088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226771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C8102E"/>
                </a:solidFill>
                <a:latin typeface="JetBrains Mono"/>
              </a:rPr>
              <a:t>VENDOR — KICKOFF · DEV · UAT · GO-LIVE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26517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₹50 L paid; value delivered ~Mar 2027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554479"/>
            <a:ext cx="10881360" cy="41148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126187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F4332"/>
                </a:solidFill>
                <a:latin typeface="JetBrains Mono"/>
              </a:rPr>
              <a:t>MEDBRAINS — IN PRODUCTION TODAY · CONTINUOUS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16459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UAT-ready now; new modules ship every fortnight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0F1412"/>
                </a:solidFill>
                <a:latin typeface="Fraunces"/>
              </a:rPr>
              <a:t>Every month of vendor wait is a month our patients still run on paper.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Already planned,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not invented on the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3703320" cy="32004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38100" cy="32004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NOW — Q2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40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65760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UAT in two pilot departments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33088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041648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Doctor + nurse training rolling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517136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425696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Pharmacy NDPS register cut-over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901184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809744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ABDM Health-ID enrolment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285232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93792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Mobile app rollout to senior consultants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017520"/>
            <a:ext cx="3703320" cy="32004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017520"/>
            <a:ext cx="38100" cy="3200400"/>
          </a:xfrm>
          <a:prstGeom prst="rect">
            <a:avLst/>
          </a:prstGeom>
          <a:solidFill>
            <a:srgbClr val="15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2004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Q3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749040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65760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YottaDB hot path enabled (real-time bed state, sequences)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4133088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4041648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Specialty modules — Psychiatry, Onco workflows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4517136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4425696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TV displays in OPD + IPD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4901184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Multi-hospital tenancy onboarding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285232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8" y="5193792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Quality evidence engine for NABH 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017520"/>
            <a:ext cx="3703320" cy="32004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017520"/>
            <a:ext cx="38100" cy="320040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2004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Q4 2026 — H1 2027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3749040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7928" y="365760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AI-assisted documentation (notes, discharge summary)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4133088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7928" y="4041648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Predictive analytics — readmission, sepsis early warning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517136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4425696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PACS integration cutover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901184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4809744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ABDM HCX claims at scale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5285232"/>
            <a:ext cx="76200" cy="76200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7928" y="5193792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Medical College / academic module rollout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256032" cy="256032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412"/>
                </a:solidFill>
                <a:latin typeface="Fraunces"/>
              </a:rPr>
              <a:t>Med</a:t>
            </a:r>
            <a:r>
              <a:rPr sz="1800" b="0" i="1">
                <a:solidFill>
                  <a:srgbClr val="1F4332"/>
                </a:solidFill>
                <a:latin typeface="Fraunces"/>
              </a:rPr>
              <a:t>Brains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8924A"/>
                </a:solidFill>
                <a:latin typeface="JetBrains Mono"/>
              </a:rPr>
              <a:t>ANTICIPATED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F1412"/>
                </a:solidFill>
                <a:latin typeface="Fraunces"/>
              </a:rPr>
              <a:t>What the board will </a:t>
            </a:r>
            <a:r>
              <a:rPr sz="4000" b="0" i="1">
                <a:solidFill>
                  <a:srgbClr val="B8924A"/>
                </a:solidFill>
                <a:latin typeface="Fraunces"/>
              </a:rPr>
              <a:t>ask — answered.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9067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Q  Bus-factor — what if the in-house team leaves?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90672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Inter Tight"/>
              </a:rPr>
              <a:t>A  Source code, tests, migrations and RFCs are version-controlled and documented. A successor team onboards faster than a vendor handover.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9359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Q  How is this different from vendor X who also said multi-tenant?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93592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Inter Tight"/>
              </a:rPr>
              <a:t>A  Show me the row-level policy in their schema. We can show ours, today, in the migration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74552" cy="5029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Q  Will it pass NABH?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096512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Inter Tight"/>
              </a:rPr>
              <a:t>A  We mapped 700+ NABH/JCI criteria into evidence engine and module checklists. NABH-ready before vendor would finish OPD.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7455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9943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Q  What about insurance / TPA?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599432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Inter Tight"/>
              </a:rPr>
              <a:t>A  ABDM/NHCX live, dual-insurance, reimbursement docs, TPA recon already in billing module.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11274552" cy="5029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0235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Q  Hardware integration — analysers, printers, barcode?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102352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Inter Tight"/>
              </a:rPr>
              <a:t>A  Architecture supports it. Lab analyser HL7 v2 + DICOM hooks built. Pending items are integration projects, not blocked rebuilds.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0527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412"/>
                </a:solidFill>
                <a:latin typeface="Inter Tight"/>
              </a:rPr>
              <a:t>Q  Risk if we say no to the vendor today?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605272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Inter Tight"/>
              </a:rPr>
              <a:t>A  Zero. Vendor will requote in 30 days. We will be three modules ahead.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 wrap="none"/>
          <a:lstStyle/>
          <a:p>
            <a:pPr algn="ctr"/>
            <a:r>
              <a:rPr sz="900" b="1" spc="200">
                <a:solidFill>
                  <a:srgbClr val="FFFFFF"/>
                </a:solidFill>
                <a:latin typeface="JetBrains Mono"/>
              </a:rPr>
              <a:t>APPENDIX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B8924A"/>
                </a:solidFill>
                <a:latin typeface="JetBrains Mono"/>
              </a:rPr>
              <a:t>APPENDIX  ·  Q&amp;A REFERENCE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B8924A"/>
                </a:solidFill>
                <a:latin typeface="JetBrains Mono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