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24"/>
    <p:sldId id="275" r:id="rId25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INTERNAL PROPOSAL ·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0" i="0">
                <a:solidFill>
                  <a:srgbClr val="0F1412"/>
                </a:solidFill>
                <a:latin typeface="Fraunces"/>
              </a:rPr>
              <a:t>Don't buy.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0" i="1">
                <a:solidFill>
                  <a:srgbClr val="1F4332"/>
                </a:solidFill>
                <a:latin typeface="Fraunces"/>
              </a:rPr>
              <a:t>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F1412"/>
                </a:solidFill>
                <a:latin typeface="Fraunces"/>
              </a:rPr>
              <a:t>Four HMS quotes on the table. </a:t>
            </a:r>
            <a:r>
              <a:rPr sz="2000" b="1" i="0">
                <a:solidFill>
                  <a:srgbClr val="B8924A"/>
                </a:solidFill>
                <a:latin typeface="Fraunces"/>
              </a:rPr>
              <a:t>Hospital launches in 4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6A706D"/>
                </a:solidFill>
                <a:latin typeface="Inter Tight"/>
              </a:rPr>
              <a:t>Pay ₹14L–₹70L upfront to a vendor — or spend a fraction this year and keep full control of the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A706D"/>
                </a:solidFill>
                <a:latin typeface="JetBrains Mono"/>
              </a:rPr>
              <a:t>Presented by [Your name]  ·  Lead Engineer / Tech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WE'VE ACTUALLY BEEN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F1412"/>
                </a:solidFill>
                <a:latin typeface="Fraunces"/>
              </a:rPr>
              <a:t>Four vendors. </a:t>
            </a:r>
            <a:r>
              <a:rPr sz="3000" b="1" i="0">
                <a:solidFill>
                  <a:srgbClr val="B8924A"/>
                </a:solidFill>
                <a:latin typeface="Fraunces"/>
              </a:rPr>
              <a:t>₹14L to ₹90L.</a:t>
            </a:r>
            <a:r>
              <a:rPr sz="3000" b="0" i="0">
                <a:solidFill>
                  <a:srgbClr val="0F1412"/>
                </a:solidFill>
                <a:latin typeface="Fraunces"/>
              </a:rPr>
              <a:t> Each with different trade-offs.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1997 · 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4332"/>
                </a:solidFill>
                <a:latin typeface="Fraunces"/>
              </a:rPr>
              <a:t>₹90L → ₹50L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negotiated down ₹40L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Mature, but legacy stack. Bolted-on ABDM.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41280" y="2331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6B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New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Zoho 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early-access 2025 · ~1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E6B422"/>
                </a:solidFill>
                <a:latin typeface="Fraunces"/>
              </a:rPr>
              <a:t>₹70L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+ services on 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Brand power, but NEW product. Limited HMS depth.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Maturing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Nuvertos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founded 2021 · 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B8924A"/>
                </a:solidFill>
                <a:latin typeface="Fraunces"/>
              </a:rPr>
              <a:t>₹20L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+ services on 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Started 2021 with one prescription module. Still building.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79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41280" y="4434839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etBrains Mono"/>
              </a:rPr>
              <a:t>Failed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3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1412"/>
                </a:solidFill>
                <a:latin typeface="Fraunces"/>
              </a:rPr>
              <a:t>Unnamed (₹14L vendor)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4631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1-year-old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66359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C8102E"/>
                </a:solidFill>
                <a:latin typeface="Fraunces"/>
              </a:rPr>
              <a:t>₹14L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23559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JetBrains Mono"/>
              </a:rPr>
              <a:t>we already paid for this 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852159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Bugs everywhere. Service unreliable. Cost: more than the price.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6A706D"/>
                </a:solidFill>
                <a:latin typeface="JetBrains Mono"/>
              </a:rPr>
              <a:t>Sources: vendor proposals Mar–Apr 2026 · Aosta corporate (1997) · Nuvertos Crunchbase (2021) · Zoho Healthcare digest (early-access 2025).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NOT IN THE 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The quote is the </a:t>
            </a:r>
            <a:r>
              <a:rPr sz="3200" b="1" i="0">
                <a:solidFill>
                  <a:srgbClr val="B8924A"/>
                </a:solidFill>
                <a:latin typeface="Fraunces"/>
              </a:rPr>
              <a:t>down-payment.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Hidden 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Typical add-on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Real impact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Annual AMC (15–22% of licence)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₹7.5L–₹19L per year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Pays vendor forever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₹5L–₹15L one-time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Often slips 2–6 months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Per-user training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₹3K–₹8K × 300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₹9L–₹24L hidden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Module add-ons (NHCX, ABDM, DICOM)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₹50K–₹5L each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Charged separately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Customisation / change requests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₹15K–₹40K per change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Every workflow tweak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Compliance updates (DLT, GST IRN)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₹2L–₹10L per change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Vendor-paced, not yours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Per-branch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₹2L–₹3L per bed × new branch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Kills future expansion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Integration / API access fees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₹1L–₹5L per integration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Lock-in mechanism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263640"/>
            <a:ext cx="11155680" cy="292608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3093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for any of these vendors lands in the ₹1.2–9 cr range — far above the headline quote.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INDIA'S REGULATORS ACTUALLY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Look at the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compliance gap.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ABHA verify + linkage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claimed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ABDM HIE-CM bundle push (FHIR)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reg applied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NHCX preauth + claim (JWE/JWS)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code ready · participant pending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DLT SMS template enforcement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Schedule H/H1/X dispense gate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NDPS auto-register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manual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PCPNDT Form-F · MLC · PvPI · CDSCO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forms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DPDPA 2023 consent + audit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Honest note: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ABDM Health Facility ID + HIMS registration applied (two separate workstreams). Code complete, sandbox-tested. Vendors haven't even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COMPLIANCE GAP · 2 OF 2 — INTEROP, SECURITY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And the layers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auditors actually inspect.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Capability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(us)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FHIR R4 read API (Patient/Encounter/...)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HL7 v2 MLLP listener (lab analyzers)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partial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Multi-tenant / multi-branch (RLS)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per-deploy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yes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single-tenant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Immutable audit hash-chain log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Ed25519 JWT + Argon2id passwords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?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ReBAC permissions (SpiceDB)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 only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RBAC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CRDT offline-first sync (mobile)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no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live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Source ownership + on-prem deploy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 own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vendor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✓ ours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Why this matters: </a:t>
            </a:r>
            <a:r>
              <a:rPr sz="1000" b="0" i="0">
                <a:solidFill>
                  <a:srgbClr val="1F4332"/>
                </a:solidFill>
                <a:latin typeface="Inter Tight"/>
              </a:rPr>
              <a:t>NABH IT-security audit checks every row above. Vendors will lose marks. We won't.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TRUST CHECK · VENDOR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Some vendors are </a:t>
            </a:r>
            <a:r>
              <a:rPr sz="2800" b="1" i="0">
                <a:solidFill>
                  <a:srgbClr val="B8924A"/>
                </a:solidFill>
                <a:latin typeface="Fraunces"/>
              </a:rPr>
              <a:t>still figuring out what HMS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28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5798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Mature codebase. Old VB/.NET stack. Slow to ship modern features (ABDM, NHCX added late).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24912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Insta (Practo)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906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18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7121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1,250+ centers. Strong UX. Reported bugs in doctor-payment + IVF modules. Per-installation pricing $5K+.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1996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438144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351129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Suvarna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03904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30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8444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Hyderabad-based. Enterprise-grade for multi-branch chains. Slower compliance turnaround.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51376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51376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22452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Nuvertos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17136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Engineer-founded. Started w/ one prescription module → 34 modules now. Rapid but still maturing.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64608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4864608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Zoho Healthcare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303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01091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Just left early-access. Brand power but no production-tested HMS depth in India yet.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005840" cy="6400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5577840"/>
            <a:ext cx="10058400" cy="6400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0" y="56509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₹14L vendor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9436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8924A"/>
                </a:solidFill>
                <a:latin typeface="JetBrains Mono"/>
              </a:rPr>
              <a:t>1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2414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No track record. Bugs we already paid to discover. Service was never going to scale to 200 beds.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LOCK-IN TRAP · WHY HOSPITAL HMS IS BAD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0F1412"/>
                </a:solidFill>
                <a:latin typeface="Fraunces"/>
              </a:rPr>
              <a:t>It's not a contract. </a:t>
            </a:r>
            <a:r>
              <a:rPr sz="3400" b="1" i="1">
                <a:solidFill>
                  <a:srgbClr val="B8924A"/>
                </a:solidFill>
                <a:latin typeface="Fraunces"/>
              </a:rPr>
              <a:t>It's a marriage.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Every feature request becomes a money request. Every regulation change becomes a quote. Every branch becomes another licence.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"Add WhatsApp prescription delivery."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₹1.5 L change request · 3 months 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"ABDM spec just updated — please patch."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2724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Compliance module v3.1 · ₹4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"We're opening a second branch."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Per-bed licence × new beds · ₹2 L/bed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to integrate the new lab analyzer."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159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API access fee · ₹3 L + integration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"GST e-invoice IRN — when?"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On our roadmap · 6-9 months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634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332"/>
                </a:solidFill>
                <a:latin typeface="JetBrains Mono"/>
              </a:rPr>
              <a:t>You: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F1412"/>
                </a:solidFill>
                <a:latin typeface="Fraunces"/>
              </a:rPr>
              <a:t>"We want our data and want to leave."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8E6F32"/>
                </a:solidFill>
                <a:latin typeface="JetBrains Mono"/>
              </a:rPr>
              <a:t>Vendor: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046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E6F32"/>
                </a:solidFill>
                <a:latin typeface="Inter Tight"/>
              </a:rPr>
              <a:t>Custom export · quote pending · 3 mo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8932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After 3 years AMC = original licence. </a:t>
            </a:r>
            <a:r>
              <a:rPr sz="1100" b="1" i="0">
                <a:solidFill>
                  <a:srgbClr val="8E6F32"/>
                </a:solidFill>
                <a:latin typeface="Inter Tight"/>
              </a:rPr>
              <a:t>After 5 = double. After 10 = you can't afford to leave. </a:t>
            </a:r>
            <a:r>
              <a:rPr sz="1100" b="1" i="0">
                <a:solidFill>
                  <a:srgbClr val="1F4332"/>
                </a:solidFill>
                <a:latin typeface="Inter Tight"/>
              </a:rPr>
              <a:t>In-house = no exit cost, ever.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WHERE THE BUILD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0F1412"/>
                </a:solidFill>
                <a:latin typeface="Fraunces"/>
              </a:rPr>
              <a:t>Phase 1 scope is </a:t>
            </a:r>
            <a:r>
              <a:rPr sz="3600" b="0" i="1">
                <a:solidFill>
                  <a:srgbClr val="1F4332"/>
                </a:solidFill>
                <a:latin typeface="Fraunces"/>
              </a:rPr>
              <a:t>substantially</a:t>
            </a:r>
            <a:r>
              <a:rPr sz="3600" b="0" i="0">
                <a:solidFill>
                  <a:srgbClr val="0F1412"/>
                </a:solidFill>
                <a:latin typeface="Fraunces"/>
              </a:rPr>
              <a:t> covered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18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solo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architected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1,360 / 3,291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features 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modules production-ready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547k+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83279"/>
            <a:ext cx="3657600" cy="11430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19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8924A"/>
                </a:solidFill>
                <a:latin typeface="Fraunces"/>
              </a:rPr>
              <a:t>9 + 3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96511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4332"/>
                </a:solidFill>
                <a:latin typeface="JetBrains Mono"/>
              </a:rPr>
              <a:t>regulators wired (3 pending registration)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TECHNICAL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Rust 2024 (zero unsafe, clippy::pedantic clean)  ·  Axum 0.8  ·  PostgreSQL 16 + 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React 18  ·  Mantine v7  ·  TanStack Query  ·  Zustand  ·  Biome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JWE/JWS crypto  ·  FHIR R4  ·  HL7 v2 MLLP  ·  NHCX  ·  ABDM  ·  DLT  ·  SpiceDB ReBAC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CLINICAL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38 production modules.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Live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Clinical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OPD — registration, queue, encounters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IPD — admissions, beds, discharge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ICU — flowsheets, ventilator, sepsis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Emergency — triage, MLC, code-blue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OT — scheduling, surgical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MRD — file lifecycle,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Nurse Clinical — vitals, meds,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Bedside Portal — patient +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Lab Phase 1+2+3 — NABL, LOINC, EQAS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Histopath / cytology / molecular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Sample archive · home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Radiology — modalities, worklist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Blood Bank — donor, TTI, crossmatch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Pharmacy 1+2+3 — NDPS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Schedule H/H1/X dispense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Formulary + AWaRe stewardship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Support &amp; specialty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CSSD — sterilisation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Diet &amp; Kitchen — orders, allergens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Quality — NABH indicators, 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Infection Control — surveillance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 Management — registrations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Patient Experience · Care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Chronic Care · Case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Psychiatry · Medical College · LMS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WHAT'S ALREADY RUNNING · ADMIN, FINANCE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Plus the layers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vendors charge extra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Administrative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Front Office — visitors, queue, 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HR — designations, roster, leave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Multi-Hospital — branch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Facilities — gas, fire, water,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IT Security — RBAC, audit hash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CMS — content + signage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Inventory + Procurement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Housekeeping · Linen · Ambulance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Financial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Billing 1+2+3 — invoices,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GST — GSTR-1, HSN, IRP-ready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TDS + 26AS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— schemes, rate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— preauth + claim + JWE/JWS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TPA bank reconciliation 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Insurance receivables 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Journal entries · P&amp;L ·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F4332"/>
                </a:solidFill>
                <a:latin typeface="Fraunces"/>
              </a:rPr>
              <a:t>Integrations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ABDM code ready · registration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900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NHCX preauth/claim built · participant 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741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FHIR R4 — Patient/Encounter/Bundle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58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HL7 v2 MLLP listener (analyzers)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42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Twilio SMS + DLT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WhatsApp Cloud API (Meta) · SendGrid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103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PCPNDT · MLC · PvPI · CDSCO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943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Consent · DPDPA ·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REAL 3-YEAR TCO · 200 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Headline price ≠ real cost.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Apples to apples.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Aosta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Zoho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Nuvertos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₹14L vendor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Initial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₹50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₹20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Implementation + data migration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3-yr AMC (~18%)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₹27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₹37.8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₹10.8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Module add-ons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₹10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n/a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Customisation 3 yr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₹15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₹9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Hardware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Operations (team + cloud + DR over 3 yr)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₹68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3-year total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₹1.40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₹1.68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₹0.73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₹0.45 cr +bugs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8924A"/>
                          </a:solidFill>
                          <a:latin typeface="Inter Tight"/>
                        </a:rPr>
                        <a:t>₹0.82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At similar 3-yr cost, the in-house path keeps full source-code control, no AMC after Y3, no per-branch licence, and an optional resale path the board can choose later.</a:t>
            </a:r>
            <a:r>
              <a:rPr sz="1000" b="1" i="0">
                <a:solidFill>
                  <a:srgbClr val="1F4332"/>
                </a:solidFill>
                <a:latin typeface="Inter Tight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PRE-LAUNCH BUDGET · UNTIL OPENING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What we actually pay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before patients walk 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Cost line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Vendor (avg of 4 quotes)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Build in-house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Software /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₹38 L upfront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332"/>
                          </a:solidFill>
                          <a:latin typeface="Inter Tight"/>
                        </a:rPr>
                        <a:t>0 — already built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Implementation + customisation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₹9 L (delays likely)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₹4 L · 8 weeks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Data migration (existing records)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₹3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 L · scripts ready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Training (300 staff)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₹6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332"/>
                          </a:solidFill>
                          <a:latin typeface="Inter Tight"/>
                        </a:rPr>
                        <a:t>included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Hardware engineer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₹0 (we hire separately)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332"/>
                          </a:solidFill>
                          <a:latin typeface="Inter Tight"/>
                        </a:rPr>
                        <a:t>on staff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Hardware (server + DR replica)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₹14 L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412"/>
                          </a:solidFill>
                          <a:latin typeface="Inter Tight"/>
                        </a:rPr>
                        <a:t>Pre-launch operations setup (4 months)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—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₹8 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 Total to launch day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₹70 L (typical)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8924A"/>
                          </a:solidFill>
                          <a:latin typeface="Inter Tight"/>
                        </a:rPr>
                        <a:t>₹28 L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155680" cy="36576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Pre-launch saving alone: ~₹42 L. And no vendor lock-in clock starts ticking — the platform stays under our roof.</a:t>
            </a:r>
            <a:r>
              <a:rPr sz="1300" b="1" i="0">
                <a:solidFill>
                  <a:srgbClr val="B8924A"/>
                </a:solidFill>
                <a:latin typeface="Fraunces"/>
              </a:rPr>
              <a:t/>
            </a:r>
            <a:r>
              <a:rPr sz="1100" b="1" i="0">
                <a:solidFill>
                  <a:srgbClr val="1F4332"/>
                </a:solidFill>
                <a:latin typeface="Inter Tight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WHAT THE BUILD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3 engineers + me.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That's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Lead Engineer /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30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(me) — Rust + React + healthcare interop. 18 mo invested.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Backend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249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Rust + Postgres + integrations. NHCX, ABDM, FHIR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Senior Frontend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927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React + Mantine + clinical UX. OPD/IPD/Pharmacy/Lab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332"/>
                </a:solidFill>
                <a:latin typeface="Fraunces"/>
              </a:rPr>
              <a:t>Hardware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1363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Already on staff — handles servers, networking, NABH IT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WHY A SMALL TEAM IS ENOUGH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80% already built · just maintain +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Two senior engineers handle ongoing development.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Hardware engineer already on staff — no double hire.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Compliance + module updates ship in-team, not vendor-paced.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486400" cy="1874519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4EDE9"/>
                </a:solidFill>
                <a:latin typeface="JetBrains Mono"/>
              </a:rPr>
              <a:t>THE BIGGER PAYOFF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Fraunces"/>
              </a:rPr>
              <a:t>We build a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406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1">
                <a:solidFill>
                  <a:srgbClr val="B8924A"/>
                </a:solidFill>
                <a:latin typeface="Fraunces"/>
              </a:rPr>
              <a:t>that can challenge anything.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E4EDE9"/>
                </a:solidFill>
                <a:latin typeface="Inter Tight"/>
              </a:rPr>
              <a:t>Tomorrow's AI · analytics · device telemetry · whatever ships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TECH CHOICES · WHY CLOUD + OPS COST STAYS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Rust isn't a fashion choice.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It's a cost choice.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Stack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Memory / req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Throughput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Servers (200-bed)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Cloud / mo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PHP / Laravel (legacy HMS)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200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4 × 8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₹40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Java / Spring (Aosta-class)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2–4 GB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1.5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8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₹35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Node.js / NestJS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2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₹18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Python / Django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150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800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₹22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412"/>
                          </a:solidFill>
                          <a:latin typeface="Inter Tight"/>
                        </a:rPr>
                        <a:t>Elixir / Phoenix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100 MB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8 K req/s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₹12 K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Rust / Axum (us)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80 MB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12 K req/s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1 × 4 vCPU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332"/>
                          </a:solidFill>
                          <a:latin typeface="Inter Tight"/>
                        </a:rPr>
                        <a:t>₹8 K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Java / Spring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5× lower memory · no GC pauses · single 8 MB binary · no JVM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Java keeps 2–4 GB hot per process. Rust runs on a Raspberry 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Elixir /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Compile-time safety · zero runtime type errors · 2× faster than Elixir on DB-heavy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Hospital correctness &gt; BEAM fault tolerance. Bugs caught before they hit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43484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526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332"/>
                </a:solidFill>
                <a:latin typeface="Fraunces"/>
              </a:rPr>
              <a:t>vs Python / 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8924A"/>
                </a:solidFill>
                <a:latin typeface="Inter Tight"/>
              </a:rPr>
              <a:t>50–100× throughput · true parallelism · no monkey-patching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6235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Most legacy HMS (Aosta, Suvarna) are PHP/.NET. They will not scale to ABDM.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400800"/>
            <a:ext cx="11155680" cy="164592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CRDT · WHY OUR APP KEEPS WORKING WHEN WIFI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412"/>
                </a:solidFill>
                <a:latin typeface="Fraunces"/>
              </a:rPr>
              <a:t>Drop the WiFi. </a:t>
            </a:r>
            <a:r>
              <a:rPr sz="2800" b="0" i="1">
                <a:solidFill>
                  <a:srgbClr val="1F4332"/>
                </a:solidFill>
                <a:latin typeface="Fraunces"/>
              </a:rPr>
              <a:t>Keep the patient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A706D"/>
                </a:solidFill>
                <a:latin typeface="Inter Tight"/>
              </a:rPr>
              <a:t>CRDT (Conflict-free Replicated Data Types) — the math behind Google Docs, Notion, Figma. We use it for clinical data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Fraunces"/>
              </a:rPr>
              <a:t>Vendor system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Nurse charting → WiFi drops → notes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Two devices on same patient → last save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OPD camp in village → no internet → can't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Rural sub-centre → manual paper, re-entry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✕  Doctor on rounds → tablet won't sync, frustrated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486400" cy="260604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4332"/>
                </a:solidFill>
                <a:latin typeface="Fraunces"/>
              </a:rPr>
              <a:t>With CRDT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WiFi drops → keep typing, syncs when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Both devices edit → merges automatically, no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398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Camps run fully offline → upload at 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2394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Sub-centres sync on 4G when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07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F1412"/>
                </a:solidFill>
                <a:latin typeface="Inter Tight"/>
              </a:rPr>
              <a:t>✓  Doctor never sees a 'sync conflict' popup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E4EDE9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BOTTOM-LINE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10–20 min/day saved per nurse on save-and-wait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Zero clinical-note loss incidents (vs dozens/year on legacy systems)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25896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Rural camps + sub-centres become viable revenue lines (offline-first)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Inter Tight"/>
              </a:rPr>
              <a:t>✓  Lower cloud costs — fewer sync round-trips, fewer DB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ROADMAP TO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0F1412"/>
                </a:solidFill>
                <a:latin typeface="Fraunces"/>
              </a:rPr>
              <a:t>May start → </a:t>
            </a:r>
            <a:r>
              <a:rPr sz="2600" b="0" i="1">
                <a:solidFill>
                  <a:srgbClr val="1F4332"/>
                </a:solidFill>
                <a:latin typeface="Fraunces"/>
              </a:rPr>
              <a:t>full hospital live by September.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Jun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Hire 2 engineers · server provision · data migration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Jul 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517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Pilot · OPD + Pharmacy on 1 branch · 2-week parallel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821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Aug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Add IPD + Lab + Radiology · staff training (300+ users)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Sep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490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Full hospital go-live · ABDM/NHCX activate when registrations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Oct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Optional — explore first sister-hospital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Q1 '27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4632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DICOM/PACS · GST e-invoice IRN · device telemetry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JetBrains Mono"/>
              </a:rPr>
              <a:t>Q2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39496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Optional — reseller path begins, if the board chooses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THE STRATEGIC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Sell it to 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>peer hospitals.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A706D"/>
                </a:solidFill>
                <a:latin typeface="Inter Tight"/>
              </a:rPr>
              <a:t>~12,000 mid-cap Indian hospitals paying ₹2–5 L/bed today. Alagappa as the seller, not Suvarna's salesman.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 tier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Pricing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 Tight"/>
                        </a:rPr>
                        <a:t>Buyer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Branch licence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₹50K/bed + 15% AMC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Sister hospitals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Regional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₹75K/bed + 18% AMC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TN / South India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White-label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30–40% rev share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Hospital chains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SaaS hosted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₹2,500/bed/month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412"/>
                          </a:solidFill>
                          <a:latin typeface="Inter Tight"/>
                        </a:rPr>
                        <a:t>Small clinics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Year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Deployments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Revenue (conservative)</a:t>
                      </a:r>
                    </a:p>
                  </a:txBody>
                  <a:tcPr marL="120000" marR="120000" marT="60000" marB="60000">
                    <a:solidFill>
                      <a:srgbClr val="B89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Y1 (Alagappa internal)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Y2 — first reseller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₹1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3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₹2.5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Y4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6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₹4.5 cr</a:t>
                      </a:r>
                    </a:p>
                  </a:txBody>
                  <a:tcPr marL="120000" marR="120000" marT="60000" marB="60000">
                    <a:solidFill>
                      <a:srgbClr val="F7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Y5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10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412"/>
                          </a:solidFill>
                          <a:latin typeface="Inter Tight"/>
                        </a:rPr>
                        <a:t>₹7.5 cr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 5-yr cumulative 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~20 hospitals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 Tight"/>
                        </a:rPr>
                        <a:t>~₹15.5 cr</a:t>
                      </a:r>
                    </a:p>
                  </a:txBody>
                  <a:tcPr marL="120000" marR="120000" marT="60000" marB="60000">
                    <a:solidFill>
                      <a:srgbClr val="1F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F7F8F6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28523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4332"/>
                </a:solidFill>
                <a:latin typeface="Inter Tight"/>
              </a:rPr>
              <a:t>Why Alagappa wins this market: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0527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Peer-hospital trust beats vendor sales · ✓  Best reference call after 12 months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✓  Tamil-language ready for TN/Pondi/Andhra · ✓  Existing referral network through doctors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4332"/>
                </a:solidFill>
                <a:latin typeface="JetBrains Mono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Status, what's needed, and a suggested next step.</a:t>
            </a:r>
            <a:r>
              <a:rPr sz="3200" b="0" i="1">
                <a:solidFill>
                  <a:srgbClr val="1F4332"/>
                </a:solidFill>
                <a:latin typeface="Fraunces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What's already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18 months of build. 547K+ lines of code. 1,360 features live in dev across 38 production-ready modules. NHCX, ABDM, FHIR R4, NDPS, GST/TDS — code complete.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What it would take to finish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Two senior engineers (Rust + React) joining the existing in-house lead. Hardware engineer already on staff. The same team can maintain the platform after go-live.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F4332"/>
                </a:solidFill>
                <a:latin typeface="Fraunces"/>
              </a:rPr>
              <a:t>Suggested 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F1412"/>
                </a:solidFill>
                <a:latin typeface="Inter Tight"/>
              </a:rPr>
              <a:t>A two-week pilot in July would let us validate the OPD and Pharmacy paths side-by-side with current process before the September opening. Decision rests with the 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1F4332"/>
          </a:solidFill>
          <a:ln w="9525">
            <a:solidFill>
              <a:srgbClr val="E7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Fraunces"/>
              </a:rPr>
              <a:t>Pre-launch saving ≈ ₹40 L vs the average vendor quote. Resale upside is optional, not assumed.</a:t>
            </a:r>
            <a:r>
              <a:rPr sz="2200" b="1" i="0">
                <a:solidFill>
                  <a:srgbClr val="B8924A"/>
                </a:solidFill>
                <a:latin typeface="Fraunces"/>
              </a:rPr>
              <a:t/>
            </a:r>
            <a:r>
              <a:rPr sz="2200" b="0" i="1">
                <a:solidFill>
                  <a:srgbClr val="FFFFFF"/>
                </a:solidFill>
                <a:latin typeface="Fraunce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E4EDE9"/>
                </a:solidFill>
                <a:latin typeface="JetBrains Mono"/>
              </a:rPr>
              <a:t>[Your name]  ·  [phone]  ·  [email]   ·   live walkthrough on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6A706D"/>
                </a:solidFill>
                <a:latin typeface="JetBrains Mono"/>
              </a:rPr>
              <a:t>18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FUNCTIONALITY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F1412"/>
                </a:solidFill>
                <a:latin typeface="Fraunces"/>
              </a:rPr>
              <a:t>What each option </a:t>
            </a:r>
            <a:r>
              <a:rPr sz="3200" b="0" i="1">
                <a:solidFill>
                  <a:srgbClr val="B8924A"/>
                </a:solidFill>
                <a:latin typeface="Fraunces"/>
              </a:rPr>
              <a:t>actually 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Module-by-module coverage based on vendor demos, public docs, and our existing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310896"/>
          </a:xfrm>
          <a:prstGeom prst="rect">
            <a:avLst/>
          </a:prstGeom>
          <a:solidFill>
            <a:srgbClr val="1F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JetBrains Mono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6654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JetBrains Mono"/>
              </a:rPr>
              <a:t>Aosta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6654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JetBrains Mono"/>
              </a:rPr>
              <a:t>Zoho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6654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JetBrains Mono"/>
              </a:rPr>
              <a:t>Nuvertos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06654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JetBrains Mono"/>
              </a:rPr>
              <a:t>₹14L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066544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B8924A"/>
                </a:solidFill>
                <a:latin typeface="JetBrains Mono"/>
              </a:rPr>
              <a:t>Build (us)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OPD + queue + e-prescription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7744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37744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7744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37744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377440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4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24328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IPD + ADT + bed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62432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2432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2432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claimed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62432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624328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16352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871216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ICU flowsheets · ventilator · sepsis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87121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87121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87121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87121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871216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63240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118104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Emergency · triage · MLC · code-blue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11810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11810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11810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11810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118104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310128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364992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OT scheduling + surgical safety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36499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36499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36499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36499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364992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557016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61188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Lab Phase 1+2+3 · NABL · LOINC · EQAS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361188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basic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61188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361188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61188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basic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611880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803904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858768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Histopath · cytology · molecular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385876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385876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85876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385876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3858768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050792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105656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Pharmacy + NDPS register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410565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410565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410565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10565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4105656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297680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352544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Schedule H / H1 / X dispense gate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435254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manual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435254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435254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95360" y="435254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75520" y="4352544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544568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4599432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Blood Bank · donor · TTI · crossmatch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4880" y="459943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459943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459943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95360" y="459943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4599432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791456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484632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Radiology + modality worklist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54880" y="484632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484632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484632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95360" y="484632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basic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0" y="4846320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5038344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093208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CSSD · Diet · Quality · IC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54880" y="509320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35040" y="509320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509320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60" y="5093208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75520" y="5093208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285232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" y="5340096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Multi-hospital · multi-branch (RLS)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54880" y="534009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per-deploy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5040" y="534009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yes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0" y="534009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yes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95360" y="534009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single-tenant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75520" y="5340096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32120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5586984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Mobile (offline-first, CRDT sync)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0" y="558698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35040" y="558698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basic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15200" y="558698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basic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95360" y="5586984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75520" y="5586984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5779008"/>
            <a:ext cx="11274552" cy="246888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5833872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TV displays + queue boards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54880" y="583387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35040" y="583387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0" y="583387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95360" y="583387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75520" y="5833872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6025896"/>
            <a:ext cx="11274552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6080760"/>
            <a:ext cx="40233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F1412"/>
                </a:solidFill>
                <a:latin typeface="Inter Tight"/>
              </a:rPr>
              <a:t>Dashboard / form builder · low-code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54880" y="608076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5040" y="608076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B422"/>
                </a:solidFill>
                <a:latin typeface="Inter Tight"/>
              </a:rPr>
              <a:t>partial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608076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95360" y="6080760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C8102E"/>
                </a:solidFill>
                <a:latin typeface="Inter Tight"/>
              </a:rPr>
              <a:t>no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875520" y="6080760"/>
            <a:ext cx="17647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4332"/>
                </a:solidFill>
                <a:latin typeface="Inter Tight"/>
              </a:rPr>
              <a:t>✓ live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A706D"/>
                </a:solidFill>
                <a:latin typeface="Inter Tight"/>
              </a:rPr>
              <a:t>Vendor coverage assessed conservatively — partial = ships in some form but not the depth our scope requires.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6A706D"/>
                </a:solidFill>
                <a:latin typeface="JetBrains Mono"/>
              </a:rPr>
              <a:t>19 /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F4332"/>
                </a:solidFill>
                <a:latin typeface="JetBrains Mono"/>
              </a:rPr>
              <a:t>WHAT'S UNIQUE IN 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0F1412"/>
                </a:solidFill>
                <a:latin typeface="Fraunces"/>
              </a:rPr>
              <a:t>Capabilities the vendor packages </a:t>
            </a:r>
            <a:r>
              <a:rPr sz="3000" b="0" i="1">
                <a:solidFill>
                  <a:srgbClr val="B8924A"/>
                </a:solidFill>
                <a:latin typeface="Fraunces"/>
              </a:rPr>
              <a:t>do not include.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A706D"/>
                </a:solidFill>
                <a:latin typeface="JetBrains Mono"/>
              </a:rPr>
              <a:t>Each item is live in dev today and visible in a walkthrough.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CRDT offline-first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Charting continues when WiFi drops; merges with no conflict popups. Same algorithm as Google Docs and Figma. Vendors do not ship this.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2011680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2011680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21214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Compile-time SQL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4688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Every query is checked at build time against the schema. Runtime database errors do not happen — bugs caught before deploy.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0672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90672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PostgreSQL RLS multi-tenancy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Branch and tenant isolation enforced at the database, not in app code. Cross-branch leak is structurally prevented.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3090672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3090672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200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ReBAC authorisation (SpiceDB)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547872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743 typed permissions across 55 modules. Per-user override (extra / denied). Vendors offer flat RBAC.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9664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69664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793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Hash-chained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26864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Tamper-evident audit. NABH IT-security and DPDPA-2023 compliant. Hash chain visible in admin tools.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4169664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169664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2793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NHCX JWE/JWS, FHIR R4, HL7 v2 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626864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Pre-auth, claim, lab analyser interface and ABDM bundles built into the core. Not a paid add-on, not a plug-in.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48656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48656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Single-binary Rust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05856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8 MB binary, ~80 MB RAM under load. Runs the same on a Raspberry Pi or a server. Lower cloud cost than any vendor in the comparison.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5248656"/>
            <a:ext cx="5577840" cy="960120"/>
          </a:xfrm>
          <a:prstGeom prst="rect">
            <a:avLst/>
          </a:prstGeom>
          <a:solidFill>
            <a:srgbClr val="F7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5248656"/>
            <a:ext cx="38100" cy="960120"/>
          </a:xfrm>
          <a:prstGeom prst="rect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4332"/>
                </a:solidFill>
                <a:latin typeface="Fraunces"/>
              </a:rPr>
              <a:t>One codebase, three platforms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705856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412"/>
                </a:solidFill>
                <a:latin typeface="Inter Tight"/>
              </a:rPr>
              <a:t>Web, mobile (React Native + offline), TV (Android TV). Shared API and types. No per-platform licence.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46520"/>
            <a:ext cx="11274552" cy="9525"/>
          </a:xfrm>
          <a:prstGeom prst="rect">
            <a:avLst/>
          </a:prstGeom>
          <a:solidFill>
            <a:srgbClr val="E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200">
                <a:solidFill>
                  <a:srgbClr val="6A706D"/>
                </a:solidFill>
                <a:latin typeface="JetBrains Mono"/>
              </a:rPr>
              <a:t>Alagappa Hospital  ·  In-House HMS Proposal  · 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200">
                <a:solidFill>
                  <a:srgbClr val="6A706D"/>
                </a:solidFill>
                <a:latin typeface="JetBrains Mono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3047</Words>
  <Application>Microsoft Office PowerPoint</Application>
  <PresentationFormat>Widescreen</PresentationFormat>
  <Paragraphs>587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Fraunces</vt:lpstr>
      <vt:lpstr>Inter Tight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 Ramanathan</dc:creator>
  <cp:keywords/>
  <dc:description>generated using python-pptx</dc:description>
  <cp:lastModifiedBy>R Ramanathan</cp:lastModifiedBy>
  <cp:revision>1</cp:revision>
  <dcterms:created xsi:type="dcterms:W3CDTF">2013-01-27T09:14:16Z</dcterms:created>
  <dcterms:modified xsi:type="dcterms:W3CDTF">2026-05-01T05:30:26Z</dcterms:modified>
  <cp:category/>
</cp:coreProperties>
</file>