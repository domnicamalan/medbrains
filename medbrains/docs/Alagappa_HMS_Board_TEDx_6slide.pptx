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CHAIRMAN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F1412"/>
                </a:solidFill>
                <a:latin typeface="IBM Plex Sans"/>
              </a:rPr>
              <a:t>Alagappa’s next legacy is digital ownership.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80" b="0">
                <a:solidFill>
                  <a:srgbClr val="3E4A44"/>
                </a:solidFill>
                <a:latin typeface="IBM Plex Sans"/>
              </a:rPr>
              <a:t>For 75 years, Alagappa built institutions. The HMS should be owned like the campus, not rented like software.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971800"/>
            <a:ext cx="2121408" cy="117043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273552"/>
            <a:ext cx="190195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4332"/>
                </a:solidFill>
                <a:latin typeface="IBM Plex Sans"/>
              </a:rPr>
              <a:t>Legacy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639312"/>
            <a:ext cx="1901952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trust + continuity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971800"/>
            <a:ext cx="2121408" cy="1170432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3273552"/>
            <a:ext cx="190195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D5F22"/>
                </a:solidFill>
                <a:latin typeface="IBM Plex Sans"/>
              </a:rPr>
              <a:t>Hospital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3639312"/>
            <a:ext cx="1901952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daily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971800"/>
            <a:ext cx="2121408" cy="117043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3273552"/>
            <a:ext cx="1901952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4332"/>
                </a:solidFill>
                <a:latin typeface="IBM Plex Sans"/>
              </a:rPr>
              <a:t>Future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639312"/>
            <a:ext cx="1901952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branches + college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29968" y="4407408"/>
            <a:ext cx="5696711" cy="2286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13648" y="2395728"/>
            <a:ext cx="2377440" cy="260604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724912"/>
            <a:ext cx="188366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The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246120"/>
            <a:ext cx="1883664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4332"/>
                </a:solidFill>
                <a:latin typeface="IBM Plex Sans"/>
              </a:rPr>
              <a:t>Do not rent the backbone.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822191"/>
            <a:ext cx="1883664" cy="40233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3E4A44"/>
                </a:solidFill>
                <a:latin typeface="IBM Plex Sans"/>
              </a:rPr>
              <a:t>Own the system that will carry every patient, bill, medicine and branch.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STRATEGIC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A vendor gives software. It also controls tomorrow.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Every future change becomes either permission from a vendor or a decision Alagappa can make.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240280"/>
            <a:ext cx="5074920" cy="299923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42032"/>
            <a:ext cx="2103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BE123C"/>
                </a:solidFill>
                <a:latin typeface="IBM Plex Sans"/>
              </a:rPr>
              <a:t>Buy vendor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3090672"/>
            <a:ext cx="1325880" cy="6400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BE123C"/>
                </a:solidFill>
                <a:latin typeface="IBM Plex Sans"/>
              </a:rPr>
              <a:t>Quote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₹50–70L+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70048" y="3090672"/>
            <a:ext cx="1325880" cy="6400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6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BE123C"/>
                </a:solidFill>
                <a:latin typeface="IBM Plex Sans"/>
              </a:rPr>
              <a:t>AMC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6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every year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3090672"/>
            <a:ext cx="1325880" cy="6400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BE123C"/>
                </a:solidFill>
                <a:latin typeface="IBM Plex Sans"/>
              </a:rPr>
              <a:t>Change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every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04872" y="3419856"/>
            <a:ext cx="265176" cy="228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95928" y="3419856"/>
            <a:ext cx="265176" cy="228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224528"/>
            <a:ext cx="429768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latin typeface="IBM Plex Sans"/>
              </a:rPr>
              <a:t>Dependency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7648" y="2240280"/>
            <a:ext cx="5074920" cy="299923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542032"/>
            <a:ext cx="23317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Build in-house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56832" y="3090672"/>
            <a:ext cx="1325880" cy="6400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1F4332"/>
                </a:solidFill>
                <a:latin typeface="IBM Plex Sans"/>
              </a:rPr>
              <a:t>Own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source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3090672"/>
            <a:ext cx="1325880" cy="6400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5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1F4332"/>
                </a:solidFill>
                <a:latin typeface="IBM Plex Sans"/>
              </a:rPr>
              <a:t>Own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patients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38944" y="3090672"/>
            <a:ext cx="1325880" cy="6400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8672" y="3255264"/>
            <a:ext cx="1106424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1F4332"/>
                </a:solidFill>
                <a:latin typeface="IBM Plex Sans"/>
              </a:rPr>
              <a:t>Own roadmap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48672" y="3511296"/>
            <a:ext cx="11064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changes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2712" y="3419856"/>
            <a:ext cx="265175" cy="2286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73768" y="3419856"/>
            <a:ext cx="265175" cy="2286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4224528"/>
            <a:ext cx="429768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latin typeface="IBM Plex Sans"/>
              </a:rPr>
              <a:t>Institutional capability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FINANCIAL STEWARDSHIP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The ₹50L quote is not the real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E4A44"/>
                </a:solidFill>
                <a:latin typeface="IBM Plex Sans"/>
              </a:rPr>
              <a:t>The board should compare the full three-year commitment: licence, AMC, hosting, support, training and change requests.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0008"/>
            <a:ext cx="16459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E4A44"/>
                </a:solidFill>
                <a:latin typeface="IBM Plex Sans"/>
              </a:rPr>
              <a:t>Large vendor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2395727"/>
            <a:ext cx="6583680" cy="210312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33472" y="2395727"/>
            <a:ext cx="4608576" cy="210312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54896" y="2331720"/>
            <a:ext cx="105156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8A938F"/>
                </a:solidFill>
                <a:latin typeface="IBM Plex Sans"/>
              </a:rPr>
              <a:t>~₹1.4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90088"/>
            <a:ext cx="16459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E4A44"/>
                </a:solidFill>
                <a:latin typeface="IBM Plex Sans"/>
              </a:rPr>
              <a:t>New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3035808"/>
            <a:ext cx="6583680" cy="210312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33472" y="3035808"/>
            <a:ext cx="6122822" cy="210312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54896" y="2971800"/>
            <a:ext cx="105156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8A938F"/>
                </a:solidFill>
                <a:latin typeface="IBM Plex Sans"/>
              </a:rPr>
              <a:t>~₹1.86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30168"/>
            <a:ext cx="16459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E4A44"/>
                </a:solidFill>
                <a:latin typeface="IBM Plex Sans"/>
              </a:rPr>
              <a:t>Low-cost vendor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3472" y="3675887"/>
            <a:ext cx="6583680" cy="210312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33472" y="3675887"/>
            <a:ext cx="2073859" cy="21031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54896" y="3611879"/>
            <a:ext cx="105156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E123C"/>
                </a:solidFill>
                <a:latin typeface="IBM Plex Sans"/>
              </a:rPr>
              <a:t>₹63L +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70247"/>
            <a:ext cx="164592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E4A44"/>
                </a:solidFill>
                <a:latin typeface="IBM Plex Sans"/>
              </a:rPr>
              <a:t>In-house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33472" y="4315968"/>
            <a:ext cx="6583680" cy="210312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33472" y="4315968"/>
            <a:ext cx="2699308" cy="210312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54896" y="4251959"/>
            <a:ext cx="105156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4332"/>
                </a:solidFill>
                <a:latin typeface="IBM Plex Sans"/>
              </a:rPr>
              <a:t>~₹82L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349240"/>
            <a:ext cx="9966960" cy="43891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5" y="5504688"/>
            <a:ext cx="9564624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40" b="1">
                <a:solidFill>
                  <a:srgbClr val="0F1412"/>
                </a:solidFill>
                <a:latin typeface="IBM Plex Sans"/>
              </a:rPr>
              <a:t>Board point: in-house is not free; it turns spend into a capability Alagappa owns.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WHAT OTHERS DID 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What others still did not give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This is why the in-house path is more than another HMS quote.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31720"/>
            <a:ext cx="3063240" cy="100584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87752"/>
            <a:ext cx="26974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4332"/>
                </a:solidFill>
                <a:latin typeface="IBM Plex Sans"/>
              </a:rPr>
              <a:t>ABDM + NHCX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935224"/>
            <a:ext cx="269748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interoperability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331720"/>
            <a:ext cx="3063240" cy="100584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587752"/>
            <a:ext cx="26974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4332"/>
                </a:solidFill>
                <a:latin typeface="IBM Plex Sans"/>
              </a:rPr>
              <a:t>Offline camps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935224"/>
            <a:ext cx="269748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rural reach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1" y="2331720"/>
            <a:ext cx="3063240" cy="1005840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1" y="2587752"/>
            <a:ext cx="26974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7D5F22"/>
                </a:solidFill>
                <a:latin typeface="IBM Plex Sans"/>
              </a:rPr>
              <a:t>Audit + DPDPA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1" y="2935224"/>
            <a:ext cx="269748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trust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749039"/>
            <a:ext cx="3063240" cy="1005840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005072"/>
            <a:ext cx="26974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7D5F22"/>
                </a:solidFill>
                <a:latin typeface="IBM Plex Sans"/>
              </a:rPr>
              <a:t>NDPS / FEFO pharmacy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352544"/>
            <a:ext cx="269748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safety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3749039"/>
            <a:ext cx="3063240" cy="100584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4005072"/>
            <a:ext cx="26974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4332"/>
                </a:solidFill>
                <a:latin typeface="IBM Plex Sans"/>
              </a:rPr>
              <a:t>Multi-branch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4352544"/>
            <a:ext cx="269748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scale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1" y="3749039"/>
            <a:ext cx="3063240" cy="100584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1" y="4005072"/>
            <a:ext cx="26974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4332"/>
                </a:solidFill>
                <a:latin typeface="IBM Plex Sans"/>
              </a:rPr>
              <a:t>Workflow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1" y="4352544"/>
            <a:ext cx="269748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0" b="0">
                <a:solidFill>
                  <a:srgbClr val="8A938F"/>
                </a:solidFill>
                <a:latin typeface="IBM Plex Sans"/>
              </a:rPr>
              <a:t>in-house speed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" y="5413248"/>
            <a:ext cx="10195560" cy="411480"/>
          </a:xfrm>
          <a:prstGeom prst="roundRect">
            <a:avLst/>
          </a:prstGeom>
          <a:solidFill>
            <a:srgbClr val="1F4332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559552"/>
            <a:ext cx="98755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IBM Plex Sans"/>
              </a:rPr>
              <a:t>The main advantage is control: Alagappa can keep adding exactly what the hospital needs.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CONTROLLED ROLLOUT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412"/>
                </a:solidFill>
                <a:latin typeface="IBM Plex Sans"/>
              </a:rPr>
              <a:t>Launch safely. Then scale confidently.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No big-bang risk: start narrow, fix daily, expand only after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743200"/>
            <a:ext cx="2148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IBM Plex Sans"/>
              </a:rPr>
              <a:t>June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36976"/>
            <a:ext cx="1783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8A938F"/>
                </a:solidFill>
                <a:latin typeface="IBM Plex Sans"/>
              </a:rPr>
              <a:t>team +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3364992"/>
            <a:ext cx="429767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84448" y="2743200"/>
            <a:ext cx="2148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IBM Plex Sans"/>
              </a:rPr>
              <a:t>July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236976"/>
            <a:ext cx="1783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611880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8A938F"/>
                </a:solidFill>
                <a:latin typeface="IBM Plex Sans"/>
              </a:rPr>
              <a:t>OPD + pharmacy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33288" y="3364992"/>
            <a:ext cx="429768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8" y="2743200"/>
            <a:ext cx="2148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IBM Plex Sans"/>
              </a:rPr>
              <a:t>August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36976"/>
            <a:ext cx="1783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expand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11880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8A938F"/>
                </a:solidFill>
                <a:latin typeface="IBM Plex Sans"/>
              </a:rPr>
              <a:t>IPD + diagnostics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76488" y="3364992"/>
            <a:ext cx="429768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70848" y="2743200"/>
            <a:ext cx="214884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944368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B8924A"/>
                </a:solidFill>
                <a:latin typeface="IBM Plex Sans"/>
              </a:rPr>
              <a:t>September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236976"/>
            <a:ext cx="178308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go-live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611880"/>
            <a:ext cx="178308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0">
                <a:solidFill>
                  <a:srgbClr val="8A938F"/>
                </a:solidFill>
                <a:latin typeface="IBM Plex Sans"/>
              </a:rPr>
              <a:t>command room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" y="4956048"/>
            <a:ext cx="10012680" cy="621792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193792"/>
            <a:ext cx="9582912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0F1412"/>
                </a:solidFill>
                <a:latin typeface="IBM Plex Sans"/>
              </a:rPr>
              <a:t>Governance: daily issue triage, named first-level support, weekly steering review.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412"/>
                </a:solidFill>
                <a:latin typeface="IBM Plex Sans"/>
              </a:rPr>
              <a:t>Say yes to ownership.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3E4A44"/>
                </a:solidFill>
                <a:latin typeface="IBM Plex Sans"/>
              </a:rPr>
              <a:t>Approve the path that protects Alagappa’s cost, control and legacy.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" y="2514600"/>
            <a:ext cx="2971800" cy="20116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12264" y="2788920"/>
            <a:ext cx="502920" cy="50292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12264" y="2898648"/>
            <a:ext cx="5029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BM Plex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502152"/>
            <a:ext cx="2514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3886200"/>
            <a:ext cx="25146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3E4A44"/>
                </a:solidFill>
                <a:latin typeface="IBM Plex Sans"/>
              </a:rPr>
              <a:t>Build in-house as primary HMS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1144" y="2514600"/>
            <a:ext cx="2971800" cy="2011680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15583" y="2788920"/>
            <a:ext cx="502920" cy="502920"/>
          </a:xfrm>
          <a:prstGeom prst="ellipse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83" y="2898648"/>
            <a:ext cx="5029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BM Plex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3502152"/>
            <a:ext cx="2514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D5F22"/>
                </a:solidFill>
                <a:latin typeface="IBM Plex Sans"/>
              </a:rPr>
              <a:t>Capability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3886200"/>
            <a:ext cx="25146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3E4A44"/>
                </a:solidFill>
                <a:latin typeface="IBM Plex Sans"/>
              </a:rPr>
              <a:t>2 senior engineers + internal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3" y="2514600"/>
            <a:ext cx="2971800" cy="20116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18903" y="2788920"/>
            <a:ext cx="502920" cy="502920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18903" y="2898648"/>
            <a:ext cx="502920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IBM Plex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3" y="3502152"/>
            <a:ext cx="25146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4332"/>
                </a:solidFill>
                <a:latin typeface="IBM Plex Sans"/>
              </a:rPr>
              <a:t>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3" y="3886200"/>
            <a:ext cx="25146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960" b="0">
                <a:solidFill>
                  <a:srgbClr val="3E4A44"/>
                </a:solidFill>
                <a:latin typeface="IBM Plex Sans"/>
              </a:rPr>
              <a:t>pilot first, expand after proof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5504688"/>
            <a:ext cx="10515600" cy="530352"/>
          </a:xfrm>
          <a:prstGeom prst="roundRect">
            <a:avLst/>
          </a:prstGeom>
          <a:solidFill>
            <a:srgbClr val="1F4332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687568"/>
            <a:ext cx="10058400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Preserve the legacy. Own the platform. Control the future.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6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Cost 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Numbers behind the simple TCO slide.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Vendor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In-house path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Licence + AMC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recurring vendor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no licence; team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Cloud / DR / hardware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contract-specific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included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hospital L1 still needed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internal L1 named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Change requests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paid queue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owned 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Requirement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Mapped from the SRS.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Message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Core HMS journey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pilot-ready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start narrow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TV / kiosk / mobile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partial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finish before broad rollout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HA / RPO target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roadmap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upgrade infra tier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Medical college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partial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stage after hospital launch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Vendor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Use only if asked.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Vendor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Good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Aosta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mature HMS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scope + dependency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Zoho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brand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new healthcare depth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Nuvertos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fast team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maturity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₹14L vendor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low quote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pilot failed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Compliance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Use for audit/regulatory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Next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NABH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expand indicators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ABDM / NHCX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code ready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activate after registration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Audit / DPDPA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strong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keep testing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DICOM / barcode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roadmap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after pilot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Team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Who runs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Why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Lead architect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accountability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Backend engineer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data + integrations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Frontend engineer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staff workflow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adoption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Hardware + L1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floor support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go-live confidence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12073127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58368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78992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412"/>
                </a:solidFill>
                <a:latin typeface="IBM Plex Sans"/>
              </a:rPr>
              <a:t>Strategic upside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046988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3E4A44"/>
                </a:solidFill>
                <a:latin typeface="IBM Plex Sans"/>
              </a:rPr>
              <a:t>Only after core approval is clear.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24028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0088" y="2148840"/>
            <a:ext cx="39319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31136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Meaning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22008" y="2148840"/>
            <a:ext cx="4389120" cy="512064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231136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Condition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60904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43200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Internal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0088" y="2660904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4952" y="2743200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own HMS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22008" y="2660904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743200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approve now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72968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55264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Branch reuse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0088" y="3172968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255264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low marginal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22008" y="3172968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76872" y="3255264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stabilize first site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85032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67328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Peer hospitals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90088" y="3685032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767328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future revenue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22008" y="3685032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3767328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12 months proof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97096"/>
            <a:ext cx="22402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79392"/>
            <a:ext cx="213055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Legacy position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90088" y="4197096"/>
            <a:ext cx="3931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44952" y="4279392"/>
            <a:ext cx="3822191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reference institution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22008" y="4197096"/>
            <a:ext cx="4389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4279392"/>
            <a:ext cx="4279392" cy="42062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quality 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Alagappa Hospital · In-house HMS board decision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40" b="0">
                <a:solidFill>
                  <a:srgbClr val="8A938F"/>
                </a:solidFill>
                <a:latin typeface="IBM Plex Sans"/>
              </a:rPr>
              <a:t>Backup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