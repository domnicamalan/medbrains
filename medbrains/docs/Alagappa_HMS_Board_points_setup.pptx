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OPENING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Why Alagappa should own its 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This is not a software purchase discussion. It is an institutional control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28600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0F1412"/>
                </a:solidFill>
                <a:latin typeface="IBM Plex Sans"/>
              </a:rPr>
              <a:t>Alagappa has built institutions for 75 years; the hospital software will become part of that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907792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Every patient entry, bill, medicine, report, audit and future branch will pass through this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4787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52958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If we buy blindly, we rent the operating backbone. If we build, we own the backbone.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9663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4151376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The decision today: approve the in-house path and run it with controlled pilot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50992"/>
            <a:ext cx="9966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First 60 seconds: make the board feel this is about legacy, control and future independence.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THE PROBLEM WITH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Vendor price is visible. Vendor dependence is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The lowest quote is not the lowest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30428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412"/>
                </a:solidFill>
                <a:latin typeface="IBM Plex Sans"/>
              </a:rPr>
              <a:t>Headline quote excludes many real costs: AMC, hosting, training, migration, support and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94436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new workflow becomes a vendor request, a quotation and a waiting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0273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58444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regulation change becomes vendor-paced, while hospital compliance is our responsibility.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42815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4224527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new branch or exit request can become another commercial negotiation.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14416"/>
            <a:ext cx="9784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332"/>
                </a:solidFill>
                <a:latin typeface="IBM Plex Sans"/>
              </a:rPr>
              <a:t>Board line: we are not avoiding vendors because we dislike vendors. We are avoiding long-term dependence.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The savings are operational, not only licence savings.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Paperless and offline workflows reduce recurring hospital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1945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0F1412"/>
                </a:solidFill>
                <a:latin typeface="IBM Plex Sans"/>
              </a:rPr>
              <a:t>Licence saving: no new software licence for the core in-house HMS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24912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3E4A44"/>
                </a:solidFill>
                <a:latin typeface="IBM Plex Sans"/>
              </a:rPr>
              <a:t>Paper saving: fewer printed forms, registers, files, photocopies and MRD storage burden.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55263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3E4A44"/>
                </a:solidFill>
                <a:latin typeface="IBM Plex Sans"/>
              </a:rPr>
              <a:t>Staff-time saving: less duplicate entry between registration, billing, pharmacy, lab and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3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785615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3E4A44"/>
                </a:solidFill>
                <a:latin typeface="IBM Plex Sans"/>
              </a:rPr>
              <a:t>PC/counter saving: mobile/tablet/shared-counter workflows reduce dependence on fixed desktops.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34255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31596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3E4A44"/>
                </a:solidFill>
                <a:latin typeface="IBM Plex Sans"/>
              </a:rPr>
              <a:t>Camp revenue protection: medical camps can continue offline and sync later when internet is weak.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50992"/>
            <a:ext cx="9966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8A938F"/>
                </a:solidFill>
                <a:latin typeface="IBM Plex Sans"/>
              </a:rPr>
              <a:t>Use as directional claim: validate during pilot by measuring pages printed, registration TAT, MRD handling time and counters 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WHY OUR BUILD IS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One point: we control the features others did not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Do not present this as a long feature list. Present it as control over hospital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15798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1412"/>
                </a:solidFill>
                <a:latin typeface="IBM Plex Sans"/>
              </a:rPr>
              <a:t>ABDM / NHCX readiness instead of waiting for vendor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66090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Offline camp flow for rural outreach and weak-internet 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16382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Paperless patient journey from registration to billing and pharmacy.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66674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Pharmacy safety: controlled drugs, batch/expiry traceability and billing linkage.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6966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Audit, consent and compliance built into the platform, not added as afterthoughts.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9087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672583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New functionality can be added as Alagappa needs it, without change-request dependency.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LAUNCH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Pilot first. Expand only after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This is how we make the decision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240280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240280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team, hardware support, migration plan, training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" y="2862072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99816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081528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081528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OPD + pharmacy pilot, parallel run, daily defect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3703320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41063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922776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922776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add IPD, lab and radiology after pilot 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43584" y="4544568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82312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764024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764024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go-live with command room and weekly steering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50992"/>
            <a:ext cx="9692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332"/>
                </a:solidFill>
                <a:latin typeface="IBM Plex Sans"/>
              </a:rPr>
              <a:t>Board line: not a big-bang launch. A controlled rollout with visible accountability.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Approve ownership, team and pilot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The decision needed this week is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331720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331720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in-house HMS as primary path; vendors only as negotiation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" y="2953512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319272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319272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two senior engineers plus internal hardware / first-level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3941063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306824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4306824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OPD + pharmacy first; expand only after daily testing stabilizes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50992"/>
            <a:ext cx="98755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4332"/>
                </a:solidFill>
                <a:latin typeface="IBM Plex Sans"/>
              </a:rPr>
              <a:t>Close: preserve the legacy, own the platform, and control the future.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3-year comparison should include licence, AMC, hosting, DR, training, migration, support and change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In-house cost should be presented as capability-building, not free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Paperless savings should be validated during pilot through print count, staff time and counter usage.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SRS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Core HMS journey is strong enough for OPD-first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TV/kiosk/mobile/offline are partial and should be in rollout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99.99% uptime and RPO &lt;15 minutes require growth/enterprise infrastructure 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Medical college suite should follow hospital workflow stabilization.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Vendor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Aosta: mature, but final scope/hosting/change terms must be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Zoho: strong brand, healthcare product still new.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Nuvertos: maturing, but implementation and support risk remains.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₹14L vendor: low quote already showed reliability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Paperless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Track pages printed per patient before and after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Track registration, billing, pharmacy and MRD turnaround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Track fixed PCs/counters avoided by shared/tablet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Run one offline camp drill before launch.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Compliance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ABDM and NHCX are code-ready / registration-dependent.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NABH indicators are started and must expand data capture.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Audit, consent and DPDPA are core platform strengths.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DICOM/barcode closed-loop workflows stay in roadmap.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