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6"/>
    <p:sldId id="276" r:id="rId27"/>
    <p:sldId id="277" r:id="rId28"/>
    <p:sldId id="278" r:id="rId29"/>
    <p:sldId id="279" r:id="rId30"/>
    <p:sldId id="280" r:id="rId31"/>
    <p:sldId id="256" r:id="rId7"/>
    <p:sldId id="257" r:id="rId8"/>
    <p:sldId id="266" r:id="rId17"/>
    <p:sldId id="264" r:id="rId15"/>
    <p:sldId id="274" r:id="rId25"/>
    <p:sldId id="273" r:id="rId24"/>
    <p:sldId id="259" r:id="rId10"/>
    <p:sldId id="260" r:id="rId11"/>
    <p:sldId id="261" r:id="rId12"/>
    <p:sldId id="263" r:id="rId14"/>
    <p:sldId id="265" r:id="rId16"/>
    <p:sldId id="268" r:id="rId19"/>
    <p:sldId id="270" r:id="rId21"/>
    <p:sldId id="271" r:id="rId22"/>
    <p:sldId id="258" r:id="rId9"/>
    <p:sldId id="262" r:id="rId13"/>
    <p:sldId id="267" r:id="rId18"/>
    <p:sldId id="269" r:id="rId20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15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6.xml"/><Relationship Id="rId14" Type="http://schemas.openxmlformats.org/officeDocument/2006/relationships/slide" Target="slides/slide10.xml"/><Relationship Id="rId15" Type="http://schemas.openxmlformats.org/officeDocument/2006/relationships/slide" Target="slides/slide4.xml"/><Relationship Id="rId16" Type="http://schemas.openxmlformats.org/officeDocument/2006/relationships/slide" Target="slides/slide11.xml"/><Relationship Id="rId17" Type="http://schemas.openxmlformats.org/officeDocument/2006/relationships/slide" Target="slides/slide3.xml"/><Relationship Id="rId18" Type="http://schemas.openxmlformats.org/officeDocument/2006/relationships/slide" Target="slides/slide17.xml"/><Relationship Id="rId19" Type="http://schemas.openxmlformats.org/officeDocument/2006/relationships/slide" Target="slides/slide12.xml"/><Relationship Id="rId20" Type="http://schemas.openxmlformats.org/officeDocument/2006/relationships/slide" Target="slides/slide18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9.xml"/><Relationship Id="rId24" Type="http://schemas.openxmlformats.org/officeDocument/2006/relationships/slide" Target="slides/slide6.xml"/><Relationship Id="rId25" Type="http://schemas.openxmlformats.org/officeDocument/2006/relationships/slide" Target="slides/slide5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INTERNAL PROPOSAL ·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0F1412"/>
                </a:solidFill>
                <a:latin typeface="Fraunces"/>
              </a:rPr>
              <a:t>Don't buy.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1">
                <a:solidFill>
                  <a:srgbClr val="1F4332"/>
                </a:solidFill>
                <a:latin typeface="Fraunces"/>
              </a:rPr>
              <a:t>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F1412"/>
                </a:solidFill>
                <a:latin typeface="Fraunces"/>
              </a:rPr>
              <a:t>Four HMS quotes on the table. </a:t>
            </a:r>
            <a:r>
              <a:rPr sz="2000" b="1" i="0">
                <a:solidFill>
                  <a:srgbClr val="B8924A"/>
                </a:solidFill>
                <a:latin typeface="Fraunces"/>
              </a:rPr>
              <a:t>Hospital launches in 4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A706D"/>
                </a:solidFill>
                <a:latin typeface="Inter Tight"/>
              </a:rPr>
              <a:t>Pay ₹14L–₹70L upfront to a vendor — or spend a fraction this year and own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A706D"/>
                </a:solidFill>
                <a:latin typeface="JetBrains Mono"/>
              </a:rPr>
              <a:t>Presented by [Your name]  ·  Lead Engineer / Tech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WE'VE ACTUALLY BEEN QUOTED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Four vendors. Headline quotes exclude different mixes of hosting, internal support, annual AMC and change requests.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1997 · 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₹90L → ₹50L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licence negotiated down ₹40L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Mature, but verify whether hosting / infra ops are included in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New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Zoho 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early-access 2025 · ~1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₹70L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+ services + internal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Brand power, but NEW HMS. Hosting/support scope still needs contract clarity.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Nuvertos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2021 · 5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₹20L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+ services + hosting /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Started with prescriptions; still maturing. Ops cost does not disappear.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128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Failed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Unnamed (₹14L vendor)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1-year-old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₹14L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+ bugs + internal recovery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Low quote was not low risk. Service and support failed in practice.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A706D"/>
                </a:solidFill>
                <a:latin typeface="JetBrains Mono"/>
              </a:rPr>
              <a:t>Sources: vendor proposals Mar–Apr 2026 · Aosta corporate (1997) · Nuvertos Crunchbase (2021) · Zoho Healthcare digest (early-access 2025).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· 200 BEDS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Headline price ≠ real cost. Apples-to-apples TCO includes hosting, first-level support and annual vendor costs.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02336">
                <a:tc>
                  <a:txBody>
                    <a:bodyPr wrap="square"/>
                    <a:lstStyle/>
                    <a:p/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Initial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₹50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₹70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₹10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₹8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3-yr AMC (~18%)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₹27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₹37.8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₹10.8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₹7.6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Module add-ons / change requests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₹27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Hardware / server + DR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50"/>
                        <a:t>Hosting + internal L1 ops (3 yr)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included? verify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₹18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₹68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b="1" sz="1100"/>
                        <a:t>  3-year total 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₹1.40 cr*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₹1.86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₹0.91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₹0.63 cr + bugs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/>
                        <a:t>₹0.82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3-year total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₹1.40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₹1.68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₹0.73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₹0.45 cr +bugs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₹0.82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*Aosta hosting/managed-ops assumption must be verified in the final contract. In-house cost already includes cloud, DR and internal first-level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WHAT'S ALREADY RUNNING · 44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Rich functionality is already live; new workflows can be added in-house without vendor change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17030"/>
                </a:solidFill>
              </a:rPr>
              <a:t>Clinical + patient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OPD — registration, queue, encounters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IPD — admissions, beds, discharge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ICU — flowsheets, ventilator, sepsis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Emergency — triage, MLC, code-blue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OT — scheduling, surgical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MRD — file lifecycle,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Nurse clinical — vitals, meds,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Bedside portal — patient +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17030"/>
                </a:solidFill>
              </a:rPr>
              <a:t>Diagnostics + pharmacy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Lab — NABL, LOINC, EQAS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Radiology — modality worklists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Blood bank — donor to crossmatch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Pharmacy — NDPS, Schedule H/H1/X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Formulary + AWaRe stewardship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CSSD, diet, housekeeping, ambulance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Infection control + quality indicators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Camp, chronic care, case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17030"/>
                </a:solidFill>
              </a:rPr>
              <a:t>Finance + 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Billing — invoices, packages, GST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Insurance — TPA, NHCX, receivables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HR, facilities, inventory, procurement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Multi-hospital branch hierarchy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ABDM code ready · registration applied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FHIR R4 + HL7 v2 analyzer listener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DPDPA consent + audit hash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181B20"/>
                </a:solidFill>
              </a:rPr>
              <a:t>✓  WhatsApp/SMS/email communication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17030"/>
                </a:solidFill>
              </a:rPr>
              <a:t>INTERNAL TESTING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1B20"/>
                </a:solidFill>
              </a:rPr>
              <a:t>Testing says the product is viable; go-live risk is workflow polish.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08176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B6370"/>
                </a:solidFill>
              </a:rPr>
              <a:t>The right response is a controlled pilot, a daily triage loop and clear first-level support, not a vendor reset.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487168" cy="73152"/>
          </a:xfrm>
          <a:prstGeom prst="rect">
            <a:avLst/>
          </a:prstGeom>
          <a:solidFill>
            <a:srgbClr val="2B8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B8454"/>
                </a:solidFill>
              </a:rPr>
              <a:t>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Login, patient search and core OPD/IPD flows are usable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Billing, pharmacy and audit layers are already connected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NABH dashboard and permissions are live enough to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568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1993392"/>
            <a:ext cx="2487168" cy="73152"/>
          </a:xfrm>
          <a:prstGeom prst="rect">
            <a:avLst/>
          </a:prstGeom>
          <a:solidFill>
            <a:srgbClr val="B2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27E2A"/>
                </a:solidFill>
              </a:rPr>
              <a:t>What testers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Need faster search → create for missing patients/items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Module hand-offs need auto-fill, not re-entry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Diet, bedside, IPD and billing screens need cleaner linkage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993392"/>
            <a:ext cx="2487168" cy="73152"/>
          </a:xfrm>
          <a:prstGeom prst="rect">
            <a:avLst/>
          </a:prstGeom>
          <a:solidFill>
            <a:srgbClr val="C1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17030"/>
                </a:solidFill>
              </a:rPr>
              <a:t>Fixes already 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Patient context banner for allergies, MLC, balance and contacts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UI error boundary + clean issue reporting path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Strict SQLx/offline checks and stronger deploy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993392"/>
            <a:ext cx="2487168" cy="3429000"/>
          </a:xfrm>
          <a:prstGeom prst="rect">
            <a:avLst/>
          </a:prstGeom>
          <a:solidFill>
            <a:srgbClr val="F7F4EF"/>
          </a:solidFill>
          <a:ln w="9525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07424" y="1993392"/>
            <a:ext cx="2487168" cy="73152"/>
          </a:xfrm>
          <a:prstGeom prst="rect">
            <a:avLst/>
          </a:prstGeom>
          <a:solidFill>
            <a:srgbClr val="18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2221992"/>
            <a:ext cx="21579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1B20"/>
                </a:solidFill>
              </a:rPr>
              <a:t>Go-live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688336"/>
            <a:ext cx="215798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4-week pilot: OPD + pharmacy first, then IPD/lab/radiology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Daily bug triage with P0/P1 SLA and owner</a:t>
            </a:r>
          </a:p>
          <a:p>
            <a:pPr>
              <a:spcAft>
                <a:spcPts val="800"/>
              </a:spcAft>
              <a:defRPr sz="1030">
                <a:solidFill>
                  <a:srgbClr val="181B20"/>
                </a:solidFill>
              </a:defRPr>
            </a:pPr>
            <a:r>
              <a:t>• Named hardware/L1 support before staff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522976"/>
            <a:ext cx="10378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81B20"/>
                </a:solidFill>
              </a:rPr>
              <a:t>Decision point: approve the build, but run it like an enterprise rollout — pilot scope, support owner, issue SLA and weekly steering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370"/>
                </a:solidFill>
              </a:rPr>
              <a:t>Alagappa Hospital  ·  In-House HMS Proposal  · 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601968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B6370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Three approvals. This week.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Approve the budget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t>Use the 3-year TCO view: licence + AMC + hosting + internal support + hardware, not quote price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Approve the team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t>Hire 2 senior engineers. I lead. Assign internal hardware / first-level support before pilot.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Approve the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Approve the rollout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Pilot OPD + pharmacy first, then IPD/lab/radiology. Keep backup slides ready for questions.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Fraunces"/>
              </a:rPr>
              <a:t>Save ₹40 L+ pre-launch.  </a:t>
            </a:r>
            <a:r>
              <a:rPr sz="2200" b="1" i="0">
                <a:solidFill>
                  <a:srgbClr val="B8924A"/>
                </a:solidFill>
                <a:latin typeface="Fraunces"/>
              </a:rPr>
              <a:t>Earn ₹15 cr over 5 yrs.  </a:t>
            </a:r>
            <a:r>
              <a:rPr sz="2200" b="0" i="1">
                <a:solidFill>
                  <a:srgbClr val="FFFFFF"/>
                </a:solidFill>
                <a:latin typeface="Fraunces"/>
              </a:rPr>
              <a:t>Own the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Decision: build in-house, control TCO, and own the hospital platform.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INDIA'S REGULATORS ACTUALLY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Look at the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compliance gap.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ABHA verify + linkage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claimed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HIE-CM bundle push (FHIR)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NHCX preauth + claim (JWE/JWS)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participant pending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DLT SMS template enforcement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Schedule H/H1/X dispense gate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NDPS auto-register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PCPNDT Form-F · MLC · PvPI · CDSCO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forms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DPDPA 2023 consent + audit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Honest note: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ABDM Health Facility ID + HIMS registration applied (two separate workstreams). Code complete, sandbox-tested. Vendors haven't even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COMPLIANCE GAP · 2 OF 2 — INTEROP, 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And the layers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auditors actually inspect.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FHIR R4 read API (Patient/Encounter/...)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HL7 v2 MLLP listener (lab analyzers)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Multi-tenant / multi-branch (RLS)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per-deploy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single-tenant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Immutable audit hash-chain log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Ed25519 JWT + Argon2id passwords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ReBAC permissions (SpiceDB)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 only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CRDT offline-first sync (mobile)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Source ownership + on-prem deploy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 own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Why this matters: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NABH IT-security audit checks every row above. Vendors will lose marks. We won't.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TRUST CHECK · VENDOR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Some vendors are </a:t>
            </a:r>
            <a:r>
              <a:rPr sz="2800" b="1" i="0">
                <a:solidFill>
                  <a:srgbClr val="B8924A"/>
                </a:solidFill>
                <a:latin typeface="Fraunces"/>
              </a:rPr>
              <a:t>still figuring out what HMS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84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 codebase. Old VB/.NET stack. Slow to ship modern features (ABDM, NHCX added late).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724912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79806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Insta (Practo)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90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71216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1,250+ centers. Strong UX. Reported bugs in doctor-payment + IVF modules. Per-installation pricing $5K+.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438144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5112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Suvarna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039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30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8444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Hyderabad-based. Enterprise-grade for multi-branch chains. Slower compliance turnaround.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151376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22452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Nuvertos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1713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976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Engineer-founded. Started w/ one prescription module → 34 modules now. Rapid but still maturing.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64608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864608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Zoho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303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0109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Just left early-access. Brand power but no production-tested HMS depth in India yet.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557784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6509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₹14L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436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2414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No track record. Bugs we already paid to discover. Service was never going to scale to 200 beds.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ME ·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0F1412"/>
                </a:solidFill>
                <a:latin typeface="Fraunces"/>
              </a:rPr>
              <a:t>I've already </a:t>
            </a:r>
            <a:r>
              <a:rPr sz="3600" b="0" i="1">
                <a:solidFill>
                  <a:srgbClr val="1F4332"/>
                </a:solidFill>
                <a:latin typeface="Fraunces"/>
              </a:rPr>
              <a:t>built</a:t>
            </a:r>
            <a:r>
              <a:rPr sz="3600" b="0" i="0">
                <a:solidFill>
                  <a:srgbClr val="0F1412"/>
                </a:solidFill>
                <a:latin typeface="Fraunces"/>
              </a:rPr>
              <a:t> 80%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18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solo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architected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998 / 2,566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features shipped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production-ready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250k+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lines of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 + 3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regulators wired (3 pending registration)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STACK MASTERY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Rust 2024 (zero unsafe, clippy::pedantic clean)  ·  Axum 0.8  ·  PostgreSQL 16 + 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React 18  ·  Mantine v7  ·  TanStack Query  ·  Zustand  ·  Biome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JWE/JWS crypto  ·  FHIR R4  ·  HL7 v2 MLLP  ·  NHCX  ·  ABDM  ·  DLT  ·  SpiceDB ReBAC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ALREADY RUNNING · ADMIN, FINANCE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Plus the layers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vendors charge extra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Administrative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Front Office — visitors, queue, enquiry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HR — designations, roster,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Multi-Hospital — branch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Facilities — gas, fire, water,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IT Security — RBAC, audit hash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CMS — content + signage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Inventory + Procurement 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Housekeeping · Linen · Ambulance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Financial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Billing 1+2+3 — invoices,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GST — GSTR-1, HSN, IRP-ready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TDS + 26AS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— schemes, rate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— preauth + claim + JWE/JWS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TPA bank reconciliation auto-match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receivables 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Journal entries · P&amp;L · Balance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Integrations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ABDM code ready · registration 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preauth/claim built · participant 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FHIR R4 — Patient/Encounter/Bundle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HL7 v2 MLLP listener (analyzers)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Twilio SMS + DLT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WhatsApp Cloud API (Meta) · SendGrid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PCPNDT · MLC · PvPI · CDSCO 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Consent · DPDPA ·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THE BUILD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2 senior engineers + me + internal hardware / first-level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Lead Engineer /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3055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(me) — Rust + React + healthcare interop. 18 mo invested.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Backend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2491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Rust + Postgres + integrations. NHCX, ABDM, FHIR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Frontend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927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React + Mantine + clinical UX. OPD/IPD/Pharmacy/Lab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Internal Hardware + L1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Already on staff / ops desk — servers, network, devices, first-level tickets, NABH IT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A SMALL TEAM IS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80% already built · just maintain +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Two senior engineers handle product + backend/frontend changes.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Hardware and first-level support stay internal either 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Compliance + module updates ship in-team, not vendor-paced.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4EDE9"/>
                </a:solidFill>
                <a:latin typeface="JetBrains Mono"/>
              </a:rPr>
              <a:t>THE BIGGER PAYOFF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Fraunces"/>
              </a:rPr>
              <a:t>We build a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406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B8924A"/>
                </a:solidFill>
                <a:latin typeface="Fraunces"/>
              </a:rPr>
              <a:t>that can challenge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080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4EDE9"/>
                </a:solidFill>
                <a:latin typeface="Inter Tight"/>
              </a:rPr>
              <a:t>Tomorrow's AI · analytics · device telemetry · whatever ships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CRDT · WHY OUR APP KEEPS WORKING WHEN WIFI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Drop the WiFi.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Keep the patient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A706D"/>
                </a:solidFill>
                <a:latin typeface="Inter Tight"/>
              </a:rPr>
              <a:t>CRDT (Conflict-free Replicated Data Types) — the math behind Google Docs, Notion, Figma. We use it for clinical data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Fraunces"/>
              </a:rPr>
              <a:t>Vendor system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Nurse charting → WiFi drops → notes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Two devices on same patient → last save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OPD camp in village → no internet → can't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Rural sub-centre → manual paper, re-entry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Doctor on rounds → tablet won't sync, frustrated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4332"/>
                </a:solidFill>
                <a:latin typeface="Fraunces"/>
              </a:rPr>
              <a:t>With CRDT (us)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WiFi drops → keep typing, syncs when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Both devices edit → merges automatically, no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Camps run fully offline → upload at night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Sub-centres sync on 4G when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Doctor never sees a 'sync conflict' popup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BOTTOM-LINE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10–20 min/day saved per nurse on save-and-wait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7900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Zero clinical-note loss incidents (vs dozens/year on legacy systems)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25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Rural camps + sub-centres become viable revenue lines (offline-first)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72784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Lower cloud costs — fewer sync round-trips, fewer DB writes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ROADMAP TO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Approve in May →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full hospital live by September.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Jun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Hire 2 engineers · server provision · data migration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Jul 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517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· OPD + Pharmacy on 1 branch · 2-week parallel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Aug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Add IPD + Lab + Radiology · staff training (300+ users)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Sep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4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Full hospital go-live · ABDM/NHCX activate when registrations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Oct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Begin Y2 sales prep · first sister-hospital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Q1 '27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463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DICOM/PACS · GST e-invoice IRN · device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Q2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Y2 reseller revenue begins · 2 partner hospitals 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NOT IN THE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The quote is the </a:t>
            </a:r>
            <a:r>
              <a:rPr sz="3200" b="1" i="0">
                <a:solidFill>
                  <a:srgbClr val="B8924A"/>
                </a:solidFill>
                <a:latin typeface="Fraunces"/>
              </a:rPr>
              <a:t>down-payment.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Hidden 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Typical add-on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Real impact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Annual AMC (15–22% of licence)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₹7.5L–₹19L per year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Pays vendor forever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₹5L–₹15L one-time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Often slips 2–6 months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Per-user training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₹3K–₹8K × 300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₹9L–₹24L hidden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Module add-ons (NHCX, ABDM, DICOM)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₹50K–₹5L each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Charged separately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Customisation / change requests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₹15K–₹40K per change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Every workflow tweak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Compliance updates (DLT, GST IRN)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₹2L–₹10L per change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Vendor-paced, not yours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₹2L–₹3L per bed × new branch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Kills future expansion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Integration / API access fees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₹1L–₹5L per integration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Lock-in mechanism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263640"/>
            <a:ext cx="11155680" cy="292608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for any of these vendors lands in the ₹1.2–9 cr range — far above the headline quote.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LOCK-IN TRAP · WHY HOSPITAL HMS IS BAD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412"/>
                </a:solidFill>
                <a:latin typeface="Fraunces"/>
              </a:rPr>
              <a:t>It's not a contract. </a:t>
            </a:r>
            <a:r>
              <a:rPr sz="3400" b="1" i="1">
                <a:solidFill>
                  <a:srgbClr val="B8924A"/>
                </a:solidFill>
                <a:latin typeface="Fraunces"/>
              </a:rPr>
              <a:t>It's a marriage.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Every feature request becomes a money request. Every regulation change becomes a quote. Every branch becomes another licence.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"Add WhatsApp prescription delivery."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₹1.5 L change request · 3 months 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"ABDM spec just updated — please patch."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Compliance module v3.1 · ₹4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"We're opening a second branch."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Per-bed licence × new beds · ₹2 L/bed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to integrate the new lab analyzer."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API access fee · ₹3 L + integration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"GST e-invoice IRN — when?"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On our roadmap · 6-9 months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our data and want to leave."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Custom export · quote pending · 3 mo delay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9893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After 3 years AMC = original licence. </a:t>
            </a:r>
            <a:r>
              <a:rPr sz="1100" b="1" i="0">
                <a:solidFill>
                  <a:srgbClr val="8E6F32"/>
                </a:solidFill>
                <a:latin typeface="Inter Tight"/>
              </a:rPr>
              <a:t>After 5 = double. After 10 = you can't afford to leave. </a:t>
            </a:r>
            <a:r>
              <a:rPr sz="1100" b="1" i="0">
                <a:solidFill>
                  <a:srgbClr val="1F4332"/>
                </a:solidFill>
                <a:latin typeface="Inter Tight"/>
              </a:rPr>
              <a:t>In-house = no exit cost, ever.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PRE-LAUNCH BUDGET · UNTIL OPENING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What we actually pay before patients walk in, including internal hardware ops and first-level support.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Vendor (avg of 4 quotes)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Software /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₹38 L upfront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0 — already built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Implementation + customisation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₹9 L (delays likely)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8 weeks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Data migration (existing records)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₹2 L · scripts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included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hardware + network ops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needed either way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Internal first-level helpdesk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₹4 L · go-live floor support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900"/>
                        <a:t>Hardware (server + DR replica)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b="1" sz="1000"/>
                        <a:t>  Total to launch day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₹78 L typical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/>
                        <a:t>₹28 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t>Pre-launch saving remains ~₹50 L, and the same internal L1 support is useful even if we buy a vendor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TECH CHOICES · WHY CLOUD + OPS COST STAYS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Rust isn't a fashion choice.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It's a cost choice.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Stack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Memory / req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Throughput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Servers (200-bed)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Cloud / mo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PHP / Laravel (legacy HMS)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4 × 8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₹40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Java / Spring (Aosta-class)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2–4 GB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1.5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8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₹35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Node.js / NestJS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₹18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Python / Django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150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800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₹22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Elixir / Phoenix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₹12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Rust / Axum (us)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80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12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₹8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Java / Spring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5× lower memory · no GC pauses · single 8 MB binary · no JVM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Java keeps 2–4 GB hot per process. Rust runs on a Raspberry 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Elixir /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Compile-time safety · zero runtime type errors · 2× faster than Elixir on DB-heavy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Hospital correctness &gt; BEAM fault tolerance. Bugs caught before they hit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Python / 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50–100× throughput · true parallelism · no monkey-patching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Most legacy HMS (Aosta, Suvarna) are PHP/.NET. They will not scale to ABDM.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400800"/>
            <a:ext cx="11155680" cy="164592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STRATEGIC UPSIDE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Sell it to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peer hospitals.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~12,000 mid-cap Indian hospitals paying ₹2–5 L/bed today. Alagappa as the seller, not Suvarna's salesman.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 tier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Buyer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₹50K/bed + 15% AMC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Sister hospitals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Regional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₹75K/bed + 18% AMC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TN / South India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White-label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30–40% rev share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Hospital chains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SaaS hosted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₹2,500/bed/month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Small clinics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28600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Year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Deployments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Revenue (conservative)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Y1 (Alagappa internal)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Y2 — first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Y4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6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₹4.5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Y5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5-yr cumulative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~20 hospitals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~₹15.5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8523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Why Alagappa wins this market: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0527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Peer-hospital trust beats vendor sales · ✓  Best reference call after 12 months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Tamil-language ready for TN/Pondi/Andhra · ✓  Existing referral network through doctors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B6370"/>
                </a:solidFill>
              </a:rPr>
              <a:t>Backup 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BOARD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6809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81F25"/>
                </a:solidFill>
                <a:latin typeface="Aptos Display"/>
              </a:rPr>
              <a:t>Build the HMS in-house.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813816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54937"/>
                </a:solidFill>
                <a:latin typeface="Aptos Display"/>
              </a:rPr>
              <a:t>Do not buy another locked vendor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58568"/>
            <a:ext cx="7818120" cy="5669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23C45"/>
                </a:solidFill>
                <a:latin typeface="Aptos"/>
              </a:rPr>
              <a:t>The decision is not only licence price. It is total cost of ownership, control over hospital workflows, and speed of compliance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46120"/>
            <a:ext cx="2240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10712"/>
            <a:ext cx="191109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54937"/>
                </a:solidFill>
                <a:latin typeface="Aptos Display"/>
              </a:rPr>
              <a:t>₹0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646D78"/>
                </a:solidFill>
                <a:latin typeface="Aptos"/>
              </a:rPr>
              <a:t>new software licence if we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3246120"/>
            <a:ext cx="2240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3410712"/>
            <a:ext cx="191109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54937"/>
                </a:solidFill>
                <a:latin typeface="Aptos Display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3803904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646D78"/>
                </a:solidFill>
                <a:latin typeface="Aptos"/>
              </a:rPr>
              <a:t>modules already running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1264" y="3246120"/>
            <a:ext cx="25146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5" y="3410712"/>
            <a:ext cx="218541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B57E37"/>
                </a:solidFill>
                <a:latin typeface="Aptos Display"/>
              </a:rPr>
              <a:t>600-bed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855" y="3803904"/>
            <a:ext cx="218541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646D78"/>
                </a:solidFill>
                <a:latin typeface="Aptos"/>
              </a:rPr>
              <a:t>SRS target scale; staged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078992"/>
            <a:ext cx="2697480" cy="388620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72" y="1389888"/>
            <a:ext cx="21945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4937"/>
                </a:solidFill>
                <a:latin typeface="Aptos"/>
              </a:rPr>
              <a:t>Opening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783080"/>
            <a:ext cx="2121408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81F25"/>
                </a:solidFill>
                <a:latin typeface="Aptos Display"/>
              </a:rPr>
              <a:t>In the first five minutes, the only question is whether Alagappa should own the platform or rent a vendor roadmap.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312724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3127248"/>
            <a:ext cx="183794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23C45"/>
                </a:solidFill>
                <a:latin typeface="Aptos"/>
              </a:rPr>
              <a:t>Lower 3-year TCO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346557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465576"/>
            <a:ext cx="183794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23C45"/>
                </a:solidFill>
                <a:latin typeface="Aptos"/>
              </a:rPr>
              <a:t>Faster new functionality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3803904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03904"/>
            <a:ext cx="183794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23C45"/>
                </a:solidFill>
                <a:latin typeface="Aptos"/>
              </a:rPr>
              <a:t>No branch or data lock-in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1 /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TOTAL COST OF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The quote is only the down payment.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Most vendor options still need hosting, AMC, implementation, internal support, training and change requests.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0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Aosta*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2587751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74519" y="2587751"/>
            <a:ext cx="4416552" cy="182880"/>
          </a:xfrm>
          <a:prstGeom prst="rect">
            <a:avLst/>
          </a:prstGeom>
          <a:solidFill>
            <a:srgbClr val="64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23744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D78"/>
                </a:solidFill>
                <a:latin typeface="Aptos"/>
              </a:rPr>
              <a:t>₹1.40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81527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Zoho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3108959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19" y="3108959"/>
            <a:ext cx="5867704" cy="182880"/>
          </a:xfrm>
          <a:prstGeom prst="rect">
            <a:avLst/>
          </a:prstGeom>
          <a:solidFill>
            <a:srgbClr val="64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044951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D78"/>
                </a:solidFill>
                <a:latin typeface="Aptos"/>
              </a:rPr>
              <a:t>₹1.86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02736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Nuvertos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3630168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74519" y="3630168"/>
            <a:ext cx="2870758" cy="182880"/>
          </a:xfrm>
          <a:prstGeom prst="rect">
            <a:avLst/>
          </a:prstGeom>
          <a:solidFill>
            <a:srgbClr val="64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566160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46D78"/>
                </a:solidFill>
                <a:latin typeface="Aptos"/>
              </a:rPr>
              <a:t>₹91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23944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₹14L vendor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151376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19" y="4151376"/>
            <a:ext cx="1987448" cy="182880"/>
          </a:xfrm>
          <a:prstGeom prst="rect">
            <a:avLst/>
          </a:prstGeom>
          <a:solidFill>
            <a:srgbClr val="A74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087368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7453B"/>
                </a:solidFill>
                <a:latin typeface="Aptos"/>
              </a:rPr>
              <a:t>₹63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645151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23C45"/>
                </a:solidFill>
                <a:latin typeface="Aptos"/>
              </a:rPr>
              <a:t>In-house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672583"/>
            <a:ext cx="6309360" cy="182880"/>
          </a:xfrm>
          <a:prstGeom prst="rect">
            <a:avLst/>
          </a:prstGeom>
          <a:solidFill>
            <a:srgbClr val="E6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4519" y="4672583"/>
            <a:ext cx="2586837" cy="18288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608576"/>
            <a:ext cx="91440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4937"/>
                </a:solidFill>
                <a:latin typeface="Aptos"/>
              </a:rPr>
              <a:t>₹82 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2121408"/>
            <a:ext cx="1783080" cy="2578608"/>
          </a:xfrm>
          <a:prstGeom prst="roundRect">
            <a:avLst/>
          </a:prstGeom>
          <a:solidFill>
            <a:srgbClr val="F9F1E2"/>
          </a:solidFill>
          <a:ln w="10160">
            <a:solidFill>
              <a:srgbClr val="B5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2359152"/>
            <a:ext cx="14173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57E37"/>
                </a:solidFill>
                <a:latin typeface="Aptos"/>
              </a:rPr>
              <a:t>Assumption fixed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715768"/>
            <a:ext cx="1389888" cy="96926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23C45"/>
                </a:solidFill>
                <a:latin typeface="Aptos"/>
              </a:rPr>
              <a:t>Aosta may include some managed ops. The final contract must confirm hosting, DR, support hours and upgrade scope.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3922776"/>
            <a:ext cx="1389888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54937"/>
                </a:solidFill>
                <a:latin typeface="Aptos"/>
              </a:rPr>
              <a:t>In-house number includes cloud, DR and internal first-level support.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504688"/>
            <a:ext cx="3337560" cy="310896"/>
          </a:xfrm>
          <a:prstGeom prst="roundRect">
            <a:avLst/>
          </a:prstGeom>
          <a:solidFill>
            <a:srgbClr val="E8F1EB"/>
          </a:solidFill>
          <a:ln w="889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573268"/>
            <a:ext cx="3191256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26694E"/>
                </a:solidFill>
                <a:latin typeface="Aptos"/>
              </a:rPr>
              <a:t>Decision metric: compare 3-year TCO, not licence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925312"/>
            <a:ext cx="99669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46D78"/>
                </a:solidFill>
                <a:latin typeface="Aptos"/>
              </a:rPr>
              <a:t>*Aosta total shown conservatively; validate hosted operations and AMC terms before final negotiation.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2 /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SRS FIT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We meet the core HMS need; full 600-bed readiness is a staged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SRS asks for a cloud HMS with OPD/IPD, diagnostics, pharmacy, billing, mobile, TV/kiosk, HA and academic modules.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130552"/>
            <a:ext cx="3337560" cy="315468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154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4937"/>
                </a:solidFill>
                <a:latin typeface="Aptos"/>
              </a:rPr>
              <a:t>Strong / usable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834640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OPD, patient registration,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63824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163824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IPD, beds, discharge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9300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3493008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Lab, radiology, blood 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8221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822191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Pharmacy, billing, insurance,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5137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4151376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Diet, CSSD, housekeeping, facilities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2130552"/>
            <a:ext cx="3337560" cy="3154680"/>
          </a:xfrm>
          <a:prstGeom prst="roundRect">
            <a:avLst/>
          </a:prstGeom>
          <a:solidFill>
            <a:srgbClr val="F9F1E2"/>
          </a:solidFill>
          <a:ln w="10160">
            <a:solidFill>
              <a:srgbClr val="B57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57A28"/>
                </a:solidFill>
                <a:latin typeface="Aptos"/>
              </a:rPr>
              <a:t>Partial / pilot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3464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2834640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ABDM/NHCX registration activation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163824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3163824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TV/kiosk and signage polish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49300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1456" y="3493008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Offline packs and mobile workflows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221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456" y="3822191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Inter-hospital transfers + ambulance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5137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4151376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Medical college/LMS workflows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2130552"/>
            <a:ext cx="3337560" cy="3154680"/>
          </a:xfrm>
          <a:prstGeom prst="roundRect">
            <a:avLst/>
          </a:prstGeom>
          <a:solidFill>
            <a:srgbClr val="F8E7E2"/>
          </a:solidFill>
          <a:ln w="10160">
            <a:solidFill>
              <a:srgbClr val="A74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7453B"/>
                </a:solidFill>
                <a:latin typeface="Aptos"/>
              </a:rPr>
              <a:t>Roadmap before full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83464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2834640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99.99% HA + zero-downtime failover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163824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3163824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RPO &lt;15 min DR tier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349300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3493008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DICOM/PACS production gateway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8221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3822191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Barcode closed-loop medication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415137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4151376"/>
            <a:ext cx="2569463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23C45"/>
                </a:solidFill>
                <a:latin typeface="Aptos"/>
              </a:rPr>
              <a:t>MDM/MFA enterprise rollout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" y="5623560"/>
            <a:ext cx="101498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81F25"/>
                </a:solidFill>
                <a:latin typeface="Aptos"/>
              </a:rPr>
              <a:t>SRS conclusion: enough to approve an OPD-first launch path, but not honest to claim the entire 600-bed / medical college / HA target is fully complete today.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3 /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FUNCTIONALITY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The product depth is already the advantage.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A vendor can sell modules; in-house lets us change workflows when the hospital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Front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OPD / token /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48255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Clinical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EMR / CPOE / nursing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22776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79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Diagnostics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Lab / radiology / blood bank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97295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199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Pharmacy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NDPS / FEFO / billing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71815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19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HR / inventory / facilities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46336" y="2706624"/>
            <a:ext cx="329184" cy="22860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21240" y="2240280"/>
            <a:ext cx="148132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54937"/>
                </a:solidFill>
                <a:latin typeface="Aptos"/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80" b="0">
                <a:solidFill>
                  <a:srgbClr val="646D78"/>
                </a:solidFill>
                <a:latin typeface="Aptos"/>
              </a:rPr>
              <a:t>NABH / audit / DPDPA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4069080"/>
            <a:ext cx="3154680" cy="114300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4937"/>
                </a:solidFill>
                <a:latin typeface="Aptos"/>
              </a:rPr>
              <a:t>Add new functionality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23C45"/>
                </a:solidFill>
                <a:latin typeface="Aptos"/>
              </a:rPr>
              <a:t>No change-request queue. We can add department-specific flows as testing feedback arrives.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98264" y="4069080"/>
            <a:ext cx="3154680" cy="1143000"/>
          </a:xfrm>
          <a:prstGeom prst="roundRect">
            <a:avLst/>
          </a:prstGeom>
          <a:solidFill>
            <a:srgbClr val="F9F1E2"/>
          </a:solidFill>
          <a:ln w="10160">
            <a:solidFill>
              <a:srgbClr val="B5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1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57E37"/>
                </a:solidFill>
                <a:latin typeface="Aptos"/>
              </a:rPr>
              <a:t>Own the data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23C45"/>
                </a:solidFill>
                <a:latin typeface="Aptos"/>
              </a:rPr>
              <a:t>Patient movement, billing, pharmacy, audit and compliance can stay linked instead of re-entered.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4069080"/>
            <a:ext cx="3154680" cy="114300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4937"/>
                </a:solidFill>
                <a:latin typeface="Aptos"/>
              </a:rPr>
              <a:t>Avoid branch lock-in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23C45"/>
                </a:solidFill>
                <a:latin typeface="Aptos"/>
              </a:rPr>
              <a:t>A second branch is configuration and infrastructure, not a fresh per-bed licence negotiation.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4 /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INTERNAL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Testing feedback changes the rollout plan, not the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The product is viable; the remaining risk is workflow polish, support ownership and disciplined pilot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057400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4937"/>
                </a:solidFill>
                <a:latin typeface="Aptos"/>
              </a:rPr>
              <a:t>What testing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788920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Core patient, OPD, IPD, billing and pharmacy paths are demonstrable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9125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191256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Screens need cleaner hand-offs and less manual 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935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593591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Diet/bedside/IPD linkages need polish before staff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3672" y="2057400"/>
            <a:ext cx="3246120" cy="3246120"/>
          </a:xfrm>
          <a:prstGeom prst="roundRect">
            <a:avLst/>
          </a:prstGeom>
          <a:solidFill>
            <a:srgbClr val="F9F1E2"/>
          </a:solidFill>
          <a:ln w="10160">
            <a:solidFill>
              <a:srgbClr val="B5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57E37"/>
                </a:solidFill>
                <a:latin typeface="Aptos"/>
              </a:rPr>
              <a:t>Controls before go-live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78892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788920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OPD + pharmacy pilot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319125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191256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Daily P0/P1 triage and 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35935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3593591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Named hardware/L1 support desk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99592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995928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Parallel run before cutover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0688" y="2057400"/>
            <a:ext cx="3246120" cy="3246120"/>
          </a:xfrm>
          <a:prstGeom prst="roundRect">
            <a:avLst/>
          </a:prstGeom>
          <a:solidFill>
            <a:srgbClr val="E8F1EB"/>
          </a:solidFill>
          <a:ln w="10160">
            <a:solidFill>
              <a:srgbClr val="266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4937"/>
                </a:solidFill>
                <a:latin typeface="Aptos"/>
              </a:rPr>
              <a:t>Roadmap from SRS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2788920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2788920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Mobile + offline pack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3191256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191256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TV/kiosk final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3593591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3593591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Barcode medication/sampling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3995928"/>
            <a:ext cx="16459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40" b="1">
                <a:solidFill>
                  <a:srgbClr val="B57E37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995928"/>
            <a:ext cx="243230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23C45"/>
                </a:solidFill>
                <a:latin typeface="Aptos"/>
              </a:rPr>
              <a:t>Growth-tier HA + DR rehearsal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605272"/>
            <a:ext cx="1033272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81F25"/>
                </a:solidFill>
                <a:latin typeface="Aptos"/>
              </a:rPr>
              <a:t>This is how enterprise teams launch safely: small pilot, visible defect queue, support desk, and staged expansion.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5 /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5943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57E37"/>
                </a:solidFill>
                <a:latin typeface="Aptos"/>
              </a:rPr>
              <a:t>DECISION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960120" cy="16459"/>
          </a:xfrm>
          <a:prstGeom prst="rect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789920" cy="8412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81F25"/>
                </a:solidFill>
                <a:latin typeface="Aptos Display"/>
              </a:rPr>
              <a:t>Approve build, team and controlled rollout.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46D78"/>
                </a:solidFill>
                <a:latin typeface="Aptos"/>
              </a:rPr>
              <a:t>The board decision is to avoid another vendor lock-in cycle and run the in-house HMS like an enterprise implementation.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148840"/>
            <a:ext cx="475488" cy="475488"/>
          </a:xfrm>
          <a:prstGeom prst="ellipse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4852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130552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4937"/>
                </a:solidFill>
                <a:latin typeface="Aptos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30552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23C45"/>
                </a:solidFill>
                <a:latin typeface="Aptos"/>
              </a:rPr>
              <a:t>Approve 3-year TCO envelope: cloud, DR, hardware, internal L1 support and two engineers.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264408"/>
            <a:ext cx="475488" cy="475488"/>
          </a:xfrm>
          <a:prstGeom prst="ellipse">
            <a:avLst/>
          </a:prstGeom>
          <a:solidFill>
            <a:srgbClr val="154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60420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246120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4937"/>
                </a:solidFill>
                <a:latin typeface="Aptos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246120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23C45"/>
                </a:solidFill>
                <a:latin typeface="Aptos"/>
              </a:rPr>
              <a:t>Hire two senior engineers. I lead architecture, delivery and vendor/regulatory integration.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379976"/>
            <a:ext cx="475488" cy="475488"/>
          </a:xfrm>
          <a:prstGeom prst="ellipse">
            <a:avLst/>
          </a:prstGeom>
          <a:solidFill>
            <a:srgbClr val="B5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75988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361688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57E37"/>
                </a:solidFill>
                <a:latin typeface="Aptos"/>
              </a:rPr>
              <a:t>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361688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23C45"/>
                </a:solidFill>
                <a:latin typeface="Aptos"/>
              </a:rPr>
              <a:t>Start OPD + pharmacy pilot, then IPD/lab/radiology after daily testing feedback stabilizes.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532120"/>
            <a:ext cx="10287000" cy="512064"/>
          </a:xfrm>
          <a:prstGeom prst="roundRect">
            <a:avLst/>
          </a:prstGeom>
          <a:solidFill>
            <a:srgbClr val="154937"/>
          </a:solidFill>
          <a:ln w="10160">
            <a:solidFill>
              <a:srgbClr val="154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696712"/>
            <a:ext cx="9875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ptos"/>
              </a:rPr>
              <a:t>Close: We save money, keep control, and build the technology capability Alagappa will need for the next decade.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Alagappa Hospital · In-house HMS decision deck ·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1632" y="6565392"/>
            <a:ext cx="777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6D78"/>
                </a:solidFill>
                <a:latin typeface="Aptos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