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CHAIRMAN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Own the digital hospital.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A 75-year institution should not rent the operating backbone of its next hospital.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71800"/>
            <a:ext cx="2121408" cy="11704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trust + continuity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971800"/>
            <a:ext cx="2121408" cy="1170432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D5F22"/>
                </a:solidFill>
                <a:latin typeface="IBM Plex Sans"/>
              </a:rPr>
              <a:t>Hospital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daily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971800"/>
            <a:ext cx="2121408" cy="11704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branches + college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9968" y="4407408"/>
            <a:ext cx="5696711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13648" y="2395728"/>
            <a:ext cx="2377440" cy="26060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724912"/>
            <a:ext cx="188366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46120"/>
            <a:ext cx="1883664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F4332"/>
                </a:solidFill>
                <a:latin typeface="IBM Plex Sans"/>
              </a:rPr>
              <a:t>Build in-house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822191"/>
            <a:ext cx="18836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3E4A44"/>
                </a:solidFill>
                <a:latin typeface="IBM Plex Sans"/>
              </a:rPr>
              <a:t>so Alagappa owns cost, data and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STRATEGIC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Two paths. Only one gives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This is the board-level choice: rent a vendor roadmap or own Alagappa’s operating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40280"/>
            <a:ext cx="5074920" cy="29992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42032"/>
            <a:ext cx="2103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E123C"/>
                </a:solidFill>
                <a:latin typeface="IBM Plex Sans"/>
              </a:rPr>
              <a:t>Buy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Quote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₹50–70L+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0048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AMC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every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Change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every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4872" y="3419856"/>
            <a:ext cx="265176" cy="228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95928" y="3419856"/>
            <a:ext cx="265176" cy="228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224528"/>
            <a:ext cx="42976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BE123C"/>
                </a:solidFill>
                <a:latin typeface="IBM Plex Sans"/>
              </a:rPr>
              <a:t>Ends in dependency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2240280"/>
            <a:ext cx="5074920" cy="29992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542032"/>
            <a:ext cx="23317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Build in-house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56832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5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patients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38944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changes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2712" y="3419856"/>
            <a:ext cx="265175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3768" y="3419856"/>
            <a:ext cx="265175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224528"/>
            <a:ext cx="42976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332"/>
                </a:solidFill>
                <a:latin typeface="IBM Plex Sans"/>
              </a:rPr>
              <a:t>Ends in institutional capability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FINANCIAL STEWARDSHIP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Ownership converts spend into an asset.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The right comparison is three-year total cost, not the first invoice.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000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Large vendor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2395727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33472" y="2395727"/>
            <a:ext cx="4608576" cy="210312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54896" y="2331720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~₹1.4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008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New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3035808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3035808"/>
            <a:ext cx="6122822" cy="210312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54896" y="2971800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Low-cost 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3675887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3472" y="3675887"/>
            <a:ext cx="2073859" cy="21031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3611879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IBM Plex Sans"/>
              </a:rPr>
              <a:t>₹63L +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0247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4315968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33472" y="4315968"/>
            <a:ext cx="2699308" cy="210312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4251959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~₹82L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349240"/>
            <a:ext cx="9966960" cy="43891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5" y="5504688"/>
            <a:ext cx="95646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0F1412"/>
                </a:solidFill>
                <a:latin typeface="IBM Plex Sans"/>
              </a:rPr>
              <a:t>Board point: the in-house route is not free; it turns cost into capability Alagappa owns.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WHAT OTHERS DID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One slide: the differentiators that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These are the capabilities that reduce dependency, improve safety, or protect future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3063240" cy="10058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4332"/>
                </a:solidFill>
                <a:latin typeface="IBM Plex Sans"/>
              </a:rPr>
              <a:t>ABDM + NHCX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3522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interoperability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331720"/>
            <a:ext cx="3063240" cy="10058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58775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4332"/>
                </a:solidFill>
                <a:latin typeface="IBM Plex Sans"/>
              </a:rPr>
              <a:t>Offline camps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3522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rural reach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2331720"/>
            <a:ext cx="3063240" cy="100584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1" y="258775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7D5F22"/>
                </a:solidFill>
                <a:latin typeface="IBM Plex Sans"/>
              </a:rPr>
              <a:t>Audit + DPDPA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1" y="293522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49039"/>
            <a:ext cx="3063240" cy="100584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0507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7D5F22"/>
                </a:solidFill>
                <a:latin typeface="IBM Plex Sans"/>
              </a:rPr>
              <a:t>NDPS / FEFO pharmacy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5254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safety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3749039"/>
            <a:ext cx="3063240" cy="10058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400507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4332"/>
                </a:solidFill>
                <a:latin typeface="IBM Plex Sans"/>
              </a:rPr>
              <a:t>Multi-branch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35254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scale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1" y="3749039"/>
            <a:ext cx="3063240" cy="10058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1" y="400507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4332"/>
                </a:solidFill>
                <a:latin typeface="IBM Plex Sans"/>
              </a:rPr>
              <a:t>Workflow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1" y="435254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in-house speed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" y="5413248"/>
            <a:ext cx="10195560" cy="411480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559552"/>
            <a:ext cx="98755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IBM Plex Sans"/>
              </a:rPr>
              <a:t>The main advantage is not one feature. It is the ability to keep adding exactly what Alagappa needs.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CONTROLLED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Pilot first. Expand only after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This is how we keep the launch safe for staff and patients.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June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team +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3364992"/>
            <a:ext cx="429767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July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OPD + pharmacy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33288" y="3364992"/>
            <a:ext cx="42976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IPD + diagnostics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8" y="3364992"/>
            <a:ext cx="42976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08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September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command room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" y="4956048"/>
            <a:ext cx="10012680" cy="62179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193792"/>
            <a:ext cx="9582912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F1412"/>
                </a:solidFill>
                <a:latin typeface="IBM Plex Sans"/>
              </a:rPr>
              <a:t>Governance: daily issue triage during pilot, named first-level support, weekly steering review.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Approve the in-house HMS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The decision needed this week is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514600"/>
            <a:ext cx="2971800" cy="2011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12264" y="2788920"/>
            <a:ext cx="502920" cy="50292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2264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Build in-house as primary HMS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2514600"/>
            <a:ext cx="2971800" cy="201168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3" y="2788920"/>
            <a:ext cx="502920" cy="502920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3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D5F22"/>
                </a:solidFill>
                <a:latin typeface="IBM Plex Sans"/>
              </a:rPr>
              <a:t>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2 senior engineers + internal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3" y="2514600"/>
            <a:ext cx="2971800" cy="2011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18903" y="2788920"/>
            <a:ext cx="502920" cy="50292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8903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pilot first, expand after proof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504688"/>
            <a:ext cx="10515600" cy="530352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87568"/>
            <a:ext cx="100584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Preserve the legacy. Own the platform. Control the future.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Cost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Numbers behind the simple TCO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In-house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Licence + AMC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recurring vendor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no licence; team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Cloud / DR / hardware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contract-specific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hospital L1 still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L1 named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Change 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paid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owned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Requirement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Mapped from the SRS.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Core HMS journey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pilot-ready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 narrow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TV / kiosk / mobile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finish before broad rollout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 / RPO 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upgrade infra 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Medical college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stage after hospital launch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Vendor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only if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Good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Aosta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mature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scope + dependency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new healthcare depth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fast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quote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failed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Compliance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for audit/regulatory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NABH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expand indicators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ABDM / NHCX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code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activate after registration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Audit / DPDPA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strong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keep testing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DICOM / barcode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after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Team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Who runs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Why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Lead architect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accountability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Backend engineer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data + integrations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Frontend engineer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staff workflow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adoption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Hardware + L1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floor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go-live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Strategic upside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Only after core approval is clear.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approve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Branch reuse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marginal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stabilize first site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Peer hospitals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future revenue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12 months proof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Legacy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reference institution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quality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