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17"/>
    <p:sldId id="274" r:id="rId15"/>
    <p:sldId id="275" r:id="rId8"/>
    <p:sldId id="276" r:id="rId7"/>
    <p:sldId id="277" r:id="rId24"/>
    <p:sldId id="278" r:id="rId25"/>
    <p:sldId id="258" r:id="rId9"/>
    <p:sldId id="267" r:id="rId18"/>
    <p:sldId id="261" r:id="rId12"/>
    <p:sldId id="259" r:id="rId10"/>
    <p:sldId id="260" r:id="rId11"/>
    <p:sldId id="268" r:id="rId19"/>
    <p:sldId id="271" r:id="rId22"/>
    <p:sldId id="269" r:id="rId20"/>
    <p:sldId id="262" r:id="rId13"/>
    <p:sldId id="272" r:id="rId23"/>
    <p:sldId id="263" r:id="rId14"/>
    <p:sldId id="265" r:id="rId16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7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9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slide" Target="slides/slide15.xml"/><Relationship Id="rId16" Type="http://schemas.openxmlformats.org/officeDocument/2006/relationships/slide" Target="slides/slide18.xml"/><Relationship Id="rId17" Type="http://schemas.openxmlformats.org/officeDocument/2006/relationships/slide" Target="slides/slide14.xml"/><Relationship Id="rId18" Type="http://schemas.openxmlformats.org/officeDocument/2006/relationships/slide" Target="slides/slide8.xml"/><Relationship Id="rId19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9.xml"/><Relationship Id="rId22" Type="http://schemas.openxmlformats.org/officeDocument/2006/relationships/slide" Target="slides/slide13.xml"/><Relationship Id="rId23" Type="http://schemas.openxmlformats.org/officeDocument/2006/relationships/slide" Target="slides/slide16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5"/>
            <a:ext cx="786384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Build the HMS in-house.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80467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A 75-year institution should own its digital foundation.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7818120" cy="5120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3E4A44"/>
                </a:solidFill>
                <a:latin typeface="IBM Plex Sans"/>
              </a:rPr>
              <a:t>This is stewardship, not just software buying: protect clinical continuity, patient trust, data ownership and the ability to serve Chettinad for decades.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new software licence if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modules already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3145536"/>
            <a:ext cx="2514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5" y="3300984"/>
            <a:ext cx="21854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B8924A"/>
                </a:solidFill>
                <a:latin typeface="IBM Plex Sans"/>
              </a:rPr>
              <a:t>600-bed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5" y="3685032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SRS target scale; staged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078992"/>
            <a:ext cx="2697480" cy="3858768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389888"/>
            <a:ext cx="2194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1F4332"/>
                </a:solidFill>
                <a:latin typeface="IBM Plex Sans"/>
              </a:rPr>
              <a:t>Legacy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755648"/>
            <a:ext cx="2121408" cy="7680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 hospital built for generations cannot depend on a rented roadmap.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0632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063240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Lower 3-year TCO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3410712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410712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Faster new functionality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75818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758184"/>
            <a:ext cx="184708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No branch or data lock-in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TOTAL COST OF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quote is only the down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Vendor options still need hosting, AMC, implementation, internal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55748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Aosta*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23744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₹1.40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7695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44951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9816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₹91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19372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87368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₹63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40579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₹82 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D5F22"/>
                </a:solidFill>
                <a:latin typeface="IBM Plex Sans"/>
              </a:rPr>
              <a:t>Assumption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715768"/>
            <a:ext cx="1389888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E4A44"/>
                </a:solidFill>
                <a:latin typeface="IBM Plex Sans"/>
              </a:rPr>
              <a:t>Aosta may include some managed ops. Final contract must confirm hosting, DR, support hours and upgrade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950208"/>
            <a:ext cx="138988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In-house includes cloud, DR and internal L1 support.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504688"/>
            <a:ext cx="2971800" cy="310896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73268"/>
            <a:ext cx="282549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F4332"/>
                </a:solidFill>
                <a:latin typeface="IBM Plex Sans"/>
              </a:rPr>
              <a:t>Decision metric: 3-year TCO, not licence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SRS FIT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Core HMS is ready for staged launch; full 600-bed readiness is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SRS asks for cloud HMS, OPD/IPD, diagnostics, pharmacy, billing, mobile, TV/kiosk, HA and academic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Strong / usable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OPD, patient registration,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IPD, beds, discharge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Lab, radiology, blood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Pharmacy, billing, insurance,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Diet, CSSD, housekeeping, facilities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Partial / pilot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ABDM/NHCX registration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TV/kiosk and signage polish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Offline packs and mobile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Inter-hospital transfers + ambulance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Medical college/LMS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E123C"/>
                </a:solidFill>
                <a:latin typeface="IBM Plex Sans"/>
              </a:rPr>
              <a:t>Roadmap before full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2834640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99.99% HA + zero-downtime failover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163824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RPO &lt;15 min DR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493008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DICOM/PACS production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822191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Barcode closed-loop medication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151376"/>
            <a:ext cx="257860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MDM/MFA enterprise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412"/>
                </a:solidFill>
                <a:latin typeface="IBM Plex San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FUNCTIONALITY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product depth is already the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 vendor can sell modules; in-house lets us change workflows when the hospital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Front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OPD / token /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Clinical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EMR / CPOE / nursing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Lab / radiology / blood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Pharmacy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NDPS / FEFO /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HR / inventory / facilities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NABH / audit / DPDPA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Add new functionality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No change-request queue. Department-specific flows can be added as testing feedback arrives.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7D5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7D5F22"/>
                </a:solidFill>
                <a:latin typeface="IBM Plex Sans"/>
              </a:rPr>
              <a:t>Own the data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Patient movement, billing, pharmacy, audit and compliance stay linked instead of re-entered.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Avoid branch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A second branch is configuration and infrastructure, not a fresh per-bed licence negotiation.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INTERNAL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Testing feedback changes the rollout plan, not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The product is viable; remaining risk is workflow polish, support ownership and disciplined pilot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What testing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Core patient, OPD, IPD, billing and pharmacy paths are demonstrable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Screens need cleaner hand-offs and less manual re-entry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Diet/bedside/IPD linkages need polish before staff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Controls before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OPD + pharmacy pilot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Daily P0/P1 triage and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Named hardware/L1 support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Parallel run before cutover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Roadmap from SRS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788920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Mobile + offline pack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191256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TV/kiosk final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593591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Barcode medication/sampling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995928"/>
            <a:ext cx="24414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Growth-tier HA + DR rehearsal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1412"/>
                </a:solidFill>
                <a:latin typeface="IBM Plex Sans"/>
              </a:rPr>
              <a:t>Enterprise rollout discipline: small pilot, visible defect queue, support desk, and staged expansion.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679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DECISION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Approve build, team and controlled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For a 75-year legacy institution, the HMS should become an owned institutional capability, not a vendor dependency.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Approve 3-year TCO envelope: cloud, DR, hardware, internal L1 support and two engineers.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Hire two senior engineers. I lead architecture, delivery and regulatory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D5F22"/>
                </a:solidFill>
                <a:latin typeface="IBM Plex Sans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Start OPD + pharmacy pilot, then IPD/lab/radiology after daily testing feedback stabilizes.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BM Plex Sans"/>
              </a:rPr>
              <a:t>Close: preserve the legacy, own the platform, and build the technology capability Alagappa needs for the next decade.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