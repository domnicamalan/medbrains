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BOARD DECISION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042415"/>
            <a:ext cx="7863840" cy="53035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3000" b="1">
                <a:solidFill>
                  <a:srgbClr val="0F1412"/>
                </a:solidFill>
                <a:latin typeface="IBM Plex Sans"/>
              </a:rPr>
              <a:t>Build the HMS in-house.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09344"/>
            <a:ext cx="8183879" cy="34747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700" b="1">
                <a:solidFill>
                  <a:srgbClr val="1F4332"/>
                </a:solidFill>
                <a:latin typeface="IBM Plex Sans"/>
              </a:rPr>
              <a:t>A 75-year institution should own its digital foundation.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" y="2240280"/>
            <a:ext cx="7818120" cy="51206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340" b="0">
                <a:solidFill>
                  <a:srgbClr val="3E4A44"/>
                </a:solidFill>
                <a:latin typeface="IBM Plex Sans"/>
              </a:rPr>
              <a:t>This is stewardship, not just software buying: protect clinical continuity, patient trust, data ownership and the ability to serve Chettinad for decades.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566928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31520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₹0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new software licence if we build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3054096" y="3145536"/>
            <a:ext cx="224028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3218688" y="3300984"/>
            <a:ext cx="191109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1F4332"/>
                </a:solidFill>
                <a:latin typeface="IBM Plex Sans"/>
              </a:rPr>
              <a:t>44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18688" y="3685032"/>
            <a:ext cx="191109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modules already running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5541264" y="3145536"/>
            <a:ext cx="2514600" cy="932688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705855" y="3300984"/>
            <a:ext cx="2185416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300" b="1">
                <a:solidFill>
                  <a:srgbClr val="B8924A"/>
                </a:solidFill>
                <a:latin typeface="IBM Plex Sans"/>
              </a:rPr>
              <a:t>600-bed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705855" y="3685032"/>
            <a:ext cx="2185416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8A938F"/>
                </a:solidFill>
                <a:latin typeface="IBM Plex Sans"/>
              </a:rPr>
              <a:t>SRS target scale; staged roadmap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8549640" y="1078992"/>
            <a:ext cx="2697480" cy="3858768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805672" y="1389888"/>
            <a:ext cx="21945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80" b="1">
                <a:solidFill>
                  <a:srgbClr val="1F4332"/>
                </a:solidFill>
                <a:latin typeface="IBM Plex Sans"/>
              </a:rPr>
              <a:t>Legacy point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805672" y="1755648"/>
            <a:ext cx="2121408" cy="76809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400" b="1">
                <a:solidFill>
                  <a:srgbClr val="0F1412"/>
                </a:solidFill>
                <a:latin typeface="IBM Plex Sans"/>
              </a:rPr>
              <a:t>A hospital built for generations cannot depend on a rented roadmap.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805672" y="30632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15984" y="3063240"/>
            <a:ext cx="184708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Lower 3-year TCO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8805672" y="3410712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015984" y="3410712"/>
            <a:ext cx="184708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Faster new functionality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05672" y="375818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10" b="1">
                <a:solidFill>
                  <a:srgbClr val="B8924A"/>
                </a:solidFill>
                <a:latin typeface="IBM Plex Sans"/>
              </a:rPr>
              <a:t>•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015984" y="3758184"/>
            <a:ext cx="184708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0" b="0">
                <a:solidFill>
                  <a:srgbClr val="3E4A44"/>
                </a:solidFill>
                <a:latin typeface="IBM Plex Sans"/>
              </a:rPr>
              <a:t>No branch or data lock-in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1 /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TOTAL COST OF OWNERSHIP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quote is only the down payment.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Vendor options still need hosting, AMC, implementation, internal support, training and change requests.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13232" y="2555748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Aosta*</a:t>
            </a:r>
          </a:p>
        </p:txBody>
      </p:sp>
      <p:sp>
        <p:nvSpPr>
          <p:cNvPr id="9" name="Rectangle 8"/>
          <p:cNvSpPr/>
          <p:nvPr/>
        </p:nvSpPr>
        <p:spPr>
          <a:xfrm>
            <a:off x="1874519" y="2587751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1874519" y="2587751"/>
            <a:ext cx="4416552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321040" y="2523744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₹1.40 cr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13232" y="3076956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13" name="Rectangle 12"/>
          <p:cNvSpPr/>
          <p:nvPr/>
        </p:nvSpPr>
        <p:spPr>
          <a:xfrm>
            <a:off x="1874519" y="3108959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874519" y="3108959"/>
            <a:ext cx="5867704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321040" y="3044951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₹1.86 cr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13232" y="3598164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874519" y="3630168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1874519" y="3630168"/>
            <a:ext cx="2870758" cy="182880"/>
          </a:xfrm>
          <a:prstGeom prst="rect">
            <a:avLst/>
          </a:prstGeom>
          <a:solidFill>
            <a:srgbClr val="8A938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8321040" y="3566160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8A938F"/>
                </a:solidFill>
                <a:latin typeface="IBM Plex Sans"/>
              </a:rPr>
              <a:t>₹91 L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13232" y="4119372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1874519" y="4151376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874519" y="4151376"/>
            <a:ext cx="1987448" cy="182880"/>
          </a:xfrm>
          <a:prstGeom prst="rect">
            <a:avLst/>
          </a:prstGeom>
          <a:solidFill>
            <a:srgbClr val="BE123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321040" y="4087368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₹63 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13232" y="4640579"/>
            <a:ext cx="114300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50" b="1">
                <a:solidFill>
                  <a:srgbClr val="3E4A44"/>
                </a:solidFill>
                <a:latin typeface="IBM Plex Sans"/>
              </a:rPr>
              <a:t>In-house</a:t>
            </a:r>
          </a:p>
        </p:txBody>
      </p:sp>
      <p:sp>
        <p:nvSpPr>
          <p:cNvPr id="25" name="Rectangle 24"/>
          <p:cNvSpPr/>
          <p:nvPr/>
        </p:nvSpPr>
        <p:spPr>
          <a:xfrm>
            <a:off x="1874519" y="4672583"/>
            <a:ext cx="6309360" cy="182880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874519" y="4672583"/>
            <a:ext cx="2586837" cy="18288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321040" y="4608576"/>
            <a:ext cx="960120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₹82 L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464040" y="2121408"/>
            <a:ext cx="1783080" cy="2578608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674352" y="2359152"/>
            <a:ext cx="14173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1">
                <a:solidFill>
                  <a:srgbClr val="7D5F22"/>
                </a:solidFill>
                <a:latin typeface="IBM Plex Sans"/>
              </a:rPr>
              <a:t>Assumption fixed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674352" y="2715768"/>
            <a:ext cx="1389888" cy="9601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0">
                <a:solidFill>
                  <a:srgbClr val="3E4A44"/>
                </a:solidFill>
                <a:latin typeface="IBM Plex Sans"/>
              </a:rPr>
              <a:t>Aosta may include some managed ops. Final contract must confirm hosting, DR, support hours and upgrade scope.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9674352" y="3950208"/>
            <a:ext cx="1389888" cy="45720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In-house includes cloud, DR and internal L1 support.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713232" y="5504688"/>
            <a:ext cx="2971800" cy="310896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86384" y="5573268"/>
            <a:ext cx="2825496" cy="14630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40" b="1">
                <a:solidFill>
                  <a:srgbClr val="1F4332"/>
                </a:solidFill>
                <a:latin typeface="IBM Plex Sans"/>
              </a:rPr>
              <a:t>Decision metric: 3-year TCO, not licence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713232" y="5925312"/>
            <a:ext cx="99669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19" b="0">
                <a:solidFill>
                  <a:srgbClr val="8A938F"/>
                </a:solidFill>
                <a:latin typeface="IBM Plex Sans"/>
              </a:rPr>
              <a:t>*Aosta total shown conservatively; validate hosted operations and AMC terms before final negotiation.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SRS FIT CHECK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Core HMS is ready for staged launch; full 600-bed readiness is roadmap.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SRS asks for cloud HMS, OPD/IPD, diagnostics, pharmacy, billing, mobile, TV/kiosk, HA and academic modules.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21792" y="2130552"/>
            <a:ext cx="3337560" cy="315468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841248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Strong / usable now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41248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51560" y="2834640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OPD, patient registration, queue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41248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63824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IPD, beds, discharge workflow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41248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051560" y="3493008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Lab, radiology, blood bank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051560" y="3822191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Pharmacy, billing, insurance, audit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1248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51560" y="4151376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Diet, CSSD, housekeeping, facilities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352544" y="2130552"/>
            <a:ext cx="3337560" cy="315468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572000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Partial / pilot hardening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572000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782312" y="2834640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ABDM/NHCX registration activation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782312" y="3163824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TV/kiosk and signage polish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0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4782312" y="3493008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Offline packs and mobile workflows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782312" y="3822191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Inter-hospital transfers + ambulance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0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782312" y="4151376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Medical college/LMS workflows</a:t>
            </a:r>
          </a:p>
        </p:txBody>
      </p:sp>
      <p:sp>
        <p:nvSpPr>
          <p:cNvPr id="32" name="Rounded Rectangle 31"/>
          <p:cNvSpPr/>
          <p:nvPr/>
        </p:nvSpPr>
        <p:spPr>
          <a:xfrm>
            <a:off x="8083296" y="2130552"/>
            <a:ext cx="3337560" cy="3154680"/>
          </a:xfrm>
          <a:prstGeom prst="roundRect">
            <a:avLst/>
          </a:prstGeom>
          <a:solidFill>
            <a:srgbClr val="FFF1F2"/>
          </a:solidFill>
          <a:ln w="9525">
            <a:solidFill>
              <a:srgbClr val="BE12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8302752" y="2395728"/>
            <a:ext cx="2816352" cy="25603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E123C"/>
                </a:solidFill>
                <a:latin typeface="IBM Plex Sans"/>
              </a:rPr>
              <a:t>Roadmap before full scale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302752" y="283464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513064" y="2834640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99.99% HA + zero-downtime failover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8302752" y="3163824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8513064" y="3163824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RPO &lt;15 min DR tier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8302752" y="349300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513064" y="3493008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DICOM/PACS production gateway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8302752" y="38221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8513064" y="3822191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Barcode closed-loop medication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8302752" y="415137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00" b="1">
                <a:solidFill>
                  <a:srgbClr val="BE123C"/>
                </a:solidFill>
                <a:latin typeface="IBM Plex Sans"/>
              </a:rPr>
              <a:t>•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8513064" y="4151376"/>
            <a:ext cx="257860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00" b="0">
                <a:solidFill>
                  <a:srgbClr val="3E4A44"/>
                </a:solidFill>
                <a:latin typeface="IBM Plex Sans"/>
              </a:rPr>
              <a:t>MDM/MFA enterprise rollout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76656" y="5623560"/>
            <a:ext cx="1014984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1">
                <a:solidFill>
                  <a:srgbClr val="0F1412"/>
                </a:solidFill>
                <a:latin typeface="IBM Plex Sans"/>
              </a:rPr>
              <a:t>SRS conclusion: enough to approve an OPD-first launch path, but not honest to claim the entire 600-bed / medical college / HA target is fully complete today.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FUNCTIONALITY ADVANTAGE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The product depth is already the advantage.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A vendor can sell modules; in-house lets us change workflows when the hospital changes.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486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Front desk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OPD / token / queue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04825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Rounded Rectangle 11"/>
          <p:cNvSpPr/>
          <p:nvPr/>
        </p:nvSpPr>
        <p:spPr>
          <a:xfrm>
            <a:off x="242316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532888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Clinical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2532888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EMR / CPOE / nursing</a:t>
            </a:r>
          </a:p>
        </p:txBody>
      </p:sp>
      <p:sp>
        <p:nvSpPr>
          <p:cNvPr id="15" name="Rectangle 14"/>
          <p:cNvSpPr/>
          <p:nvPr/>
        </p:nvSpPr>
        <p:spPr>
          <a:xfrm>
            <a:off x="392277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ounded Rectangle 15"/>
          <p:cNvSpPr/>
          <p:nvPr/>
        </p:nvSpPr>
        <p:spPr>
          <a:xfrm>
            <a:off x="429767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0740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Diagnostics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0740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Lab / radiology / blood bank</a:t>
            </a:r>
          </a:p>
        </p:txBody>
      </p:sp>
      <p:sp>
        <p:nvSpPr>
          <p:cNvPr id="19" name="Rectangle 18"/>
          <p:cNvSpPr/>
          <p:nvPr/>
        </p:nvSpPr>
        <p:spPr>
          <a:xfrm>
            <a:off x="579729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ounded Rectangle 19"/>
          <p:cNvSpPr/>
          <p:nvPr/>
        </p:nvSpPr>
        <p:spPr>
          <a:xfrm>
            <a:off x="617219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28192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Pharmacy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628192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NDPS / FEFO / billing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671815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8046719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815644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Admin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15644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HR / inventory / facilities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9546336" y="2706624"/>
            <a:ext cx="329184" cy="22860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ounded Rectangle 27"/>
          <p:cNvSpPr/>
          <p:nvPr/>
        </p:nvSpPr>
        <p:spPr>
          <a:xfrm>
            <a:off x="9921240" y="2240280"/>
            <a:ext cx="1481328" cy="960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10030967" y="2468880"/>
            <a:ext cx="1243584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Compliance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0030967" y="2761488"/>
            <a:ext cx="1243584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70" b="0">
                <a:solidFill>
                  <a:srgbClr val="8A938F"/>
                </a:solidFill>
                <a:latin typeface="IBM Plex Sans"/>
              </a:rPr>
              <a:t>NABH / audit / DPDPA</a:t>
            </a:r>
          </a:p>
        </p:txBody>
      </p:sp>
      <p:sp>
        <p:nvSpPr>
          <p:cNvPr id="31" name="Rounded Rectangle 30"/>
          <p:cNvSpPr/>
          <p:nvPr/>
        </p:nvSpPr>
        <p:spPr>
          <a:xfrm>
            <a:off x="694944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TextBox 31"/>
          <p:cNvSpPr txBox="1"/>
          <p:nvPr/>
        </p:nvSpPr>
        <p:spPr>
          <a:xfrm>
            <a:off x="89611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Add new functionality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611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No change-request queue. Department-specific flows can be added as testing feedback arrives.</a:t>
            </a:r>
          </a:p>
        </p:txBody>
      </p:sp>
      <p:sp>
        <p:nvSpPr>
          <p:cNvPr id="34" name="Rounded Rectangle 33"/>
          <p:cNvSpPr/>
          <p:nvPr/>
        </p:nvSpPr>
        <p:spPr>
          <a:xfrm>
            <a:off x="4398264" y="4069080"/>
            <a:ext cx="3154680" cy="1143000"/>
          </a:xfrm>
          <a:prstGeom prst="roundRect">
            <a:avLst/>
          </a:prstGeom>
          <a:solidFill>
            <a:srgbClr val="F1E4C8"/>
          </a:solidFill>
          <a:ln w="9525">
            <a:solidFill>
              <a:srgbClr val="7D5F2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4599431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7D5F22"/>
                </a:solidFill>
                <a:latin typeface="IBM Plex Sans"/>
              </a:rPr>
              <a:t>Own the data model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599431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Patient movement, billing, pharmacy, audit and compliance stay linked instead of re-entered.</a:t>
            </a:r>
          </a:p>
        </p:txBody>
      </p:sp>
      <p:sp>
        <p:nvSpPr>
          <p:cNvPr id="37" name="Rounded Rectangle 36"/>
          <p:cNvSpPr/>
          <p:nvPr/>
        </p:nvSpPr>
        <p:spPr>
          <a:xfrm>
            <a:off x="8101583" y="4069080"/>
            <a:ext cx="3154680" cy="114300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TextBox 37"/>
          <p:cNvSpPr txBox="1"/>
          <p:nvPr/>
        </p:nvSpPr>
        <p:spPr>
          <a:xfrm>
            <a:off x="8302752" y="4315968"/>
            <a:ext cx="274320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20" b="1">
                <a:solidFill>
                  <a:srgbClr val="1F4332"/>
                </a:solidFill>
                <a:latin typeface="IBM Plex Sans"/>
              </a:rPr>
              <a:t>Avoid branch lock-in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8302752" y="4663440"/>
            <a:ext cx="269748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69" b="0">
                <a:solidFill>
                  <a:srgbClr val="3E4A44"/>
                </a:solidFill>
                <a:latin typeface="IBM Plex Sans"/>
              </a:rPr>
              <a:t>A second branch is configuration and infrastructure, not a fresh per-bed licence negotiation.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INTERNAL TESTING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Testing feedback changes the rollout plan, not the decision.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The product is viable; remaining risk is workflow polish, support ownership and disciplined pilot execution.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76656" y="2057400"/>
            <a:ext cx="3246120" cy="3246120"/>
          </a:xfrm>
          <a:prstGeom prst="roundRect">
            <a:avLst/>
          </a:prstGeom>
          <a:solidFill>
            <a:srgbClr val="FFFFFF"/>
          </a:solidFill>
          <a:ln w="9525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14400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What testing says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24712" y="2788920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Core patient, OPD, IPD, billing and pharmacy paths are demonstrable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24712" y="3191256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Screens need cleaner hand-offs and less manual re-entry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4400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24712" y="3593591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Diet/bedside/IPD linkages need polish before staff training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33672" y="2057400"/>
            <a:ext cx="3246120" cy="3246120"/>
          </a:xfrm>
          <a:prstGeom prst="roundRect">
            <a:avLst/>
          </a:prstGeom>
          <a:solidFill>
            <a:srgbClr val="FFFBEB"/>
          </a:solidFill>
          <a:ln w="9525">
            <a:solidFill>
              <a:srgbClr val="B4530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71416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B45309"/>
                </a:solidFill>
                <a:latin typeface="IBM Plex Sans"/>
              </a:rPr>
              <a:t>Controls before go-live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71416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81728" y="2788920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OPD + pharmacy pilot first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71416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681728" y="3191256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Daily P0/P1 triage and owner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71416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81728" y="3593591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Named hardware/L1 support desk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71416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B45309"/>
                </a:solidFill>
                <a:latin typeface="IBM Plex Sans"/>
              </a:rPr>
              <a:t>•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681728" y="3995928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Parallel run before cutover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790688" y="2057400"/>
            <a:ext cx="3246120" cy="3246120"/>
          </a:xfrm>
          <a:prstGeom prst="roundRect">
            <a:avLst/>
          </a:prstGeom>
          <a:solidFill>
            <a:srgbClr val="E4EDE9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028431" y="2331720"/>
            <a:ext cx="265176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80" b="1">
                <a:solidFill>
                  <a:srgbClr val="1F4332"/>
                </a:solidFill>
                <a:latin typeface="IBM Plex Sans"/>
              </a:rPr>
              <a:t>Roadmap from SRS gaps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028431" y="2788920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238744" y="2788920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Mobile + offline pack manager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028431" y="3191256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238744" y="3191256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TV/kiosk final workflow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028431" y="3593591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238744" y="3593591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Barcode medication/sampling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028431" y="3995928"/>
            <a:ext cx="146304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019" b="1">
                <a:solidFill>
                  <a:srgbClr val="1F4332"/>
                </a:solidFill>
                <a:latin typeface="IBM Plex Sans"/>
              </a:rPr>
              <a:t>•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238744" y="3995928"/>
            <a:ext cx="2441448" cy="27432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919" b="0">
                <a:solidFill>
                  <a:srgbClr val="3E4A44"/>
                </a:solidFill>
                <a:latin typeface="IBM Plex Sans"/>
              </a:rPr>
              <a:t>Growth-tier HA + DR rehearsal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749808" y="5605272"/>
            <a:ext cx="10332720" cy="3291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30" b="1">
                <a:solidFill>
                  <a:srgbClr val="0F1412"/>
                </a:solidFill>
                <a:latin typeface="IBM Plex Sans"/>
              </a:rPr>
              <a:t>Enterprise rollout discipline: small pilot, visible defect queue, support desk, and staged expansion.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DECISION REQUIRED</a:t>
            </a:r>
          </a:p>
        </p:txBody>
      </p:sp>
      <p:sp>
        <p:nvSpPr>
          <p:cNvPr id="5" name="Rectangle 4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Approve build, team and controlled rollout.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For a 75-year legacy institution, the HMS should become an owned institutional capability, not a vendor dependency.</a:t>
            </a:r>
          </a:p>
        </p:txBody>
      </p:sp>
      <p:sp>
        <p:nvSpPr>
          <p:cNvPr id="8" name="Oval 7"/>
          <p:cNvSpPr/>
          <p:nvPr/>
        </p:nvSpPr>
        <p:spPr>
          <a:xfrm>
            <a:off x="749808" y="2148840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49808" y="2244852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1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444752" y="2130552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Budget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788920" y="2130552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Approve 3-year TCO envelope: cloud, DR, hardware, internal L1 support and two engineers.</a:t>
            </a:r>
          </a:p>
        </p:txBody>
      </p:sp>
      <p:sp>
        <p:nvSpPr>
          <p:cNvPr id="12" name="Oval 11"/>
          <p:cNvSpPr/>
          <p:nvPr/>
        </p:nvSpPr>
        <p:spPr>
          <a:xfrm>
            <a:off x="749808" y="3264408"/>
            <a:ext cx="475488" cy="475488"/>
          </a:xfrm>
          <a:prstGeom prst="ellipse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49808" y="3360420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444752" y="3246120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1F4332"/>
                </a:solidFill>
                <a:latin typeface="IBM Plex Sans"/>
              </a:rPr>
              <a:t>Team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788920" y="3246120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Hire two senior engineers. I lead architecture, delivery and regulatory integration.</a:t>
            </a:r>
          </a:p>
        </p:txBody>
      </p:sp>
      <p:sp>
        <p:nvSpPr>
          <p:cNvPr id="16" name="Oval 15"/>
          <p:cNvSpPr/>
          <p:nvPr/>
        </p:nvSpPr>
        <p:spPr>
          <a:xfrm>
            <a:off x="749808" y="4379976"/>
            <a:ext cx="475488" cy="475488"/>
          </a:xfrm>
          <a:prstGeom prst="ellipse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49808" y="4475988"/>
            <a:ext cx="475488" cy="16459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300" b="1">
                <a:solidFill>
                  <a:srgbClr val="FFFFFF"/>
                </a:solidFill>
                <a:latin typeface="IBM Plex Sans"/>
              </a:rPr>
              <a:t>3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1444752" y="4361688"/>
            <a:ext cx="1828800" cy="23774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500" b="1">
                <a:solidFill>
                  <a:srgbClr val="7D5F22"/>
                </a:solidFill>
                <a:latin typeface="IBM Plex Sans"/>
              </a:rPr>
              <a:t>Pilot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788920" y="4361688"/>
            <a:ext cx="8046720" cy="38404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100" b="0">
                <a:solidFill>
                  <a:srgbClr val="3E4A44"/>
                </a:solidFill>
                <a:latin typeface="IBM Plex Sans"/>
              </a:rPr>
              <a:t>Start OPD + pharmacy pilot, then IPD/lab/radiology after daily testing feedback stabilizes.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749808" y="5532120"/>
            <a:ext cx="10287000" cy="512064"/>
          </a:xfrm>
          <a:prstGeom prst="roundRect">
            <a:avLst/>
          </a:prstGeom>
          <a:solidFill>
            <a:srgbClr val="1F4332"/>
          </a:solidFill>
          <a:ln w="9525">
            <a:solidFill>
              <a:srgbClr val="1F433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32688" y="5696712"/>
            <a:ext cx="9875520" cy="1828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1150" b="1">
                <a:solidFill>
                  <a:srgbClr val="FFFFFF"/>
                </a:solidFill>
                <a:latin typeface="IBM Plex Sans"/>
              </a:rPr>
              <a:t>Close: preserve the legacy, own the platform, and build the technology capability Alagappa needs for the next decade.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6 /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TCO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if someone challenges the cost model.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Cost line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 reality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In-house reality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Licence + AMC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Headline plus 15–22% annual AMC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₹0 licence; team cost instead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Hosting + DR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Often separate or contract-dependent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Included in cloud/DR envelope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Support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Vendor L2/L3 still needs hospital L1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L1 named before pilot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Change requests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Paid queue; vendor-paced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Owned roadmap; ship in-house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1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SRS requirement fit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Directly mapped from the May 2 SRS.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Requirement area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Status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Roadmap action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OPD/IPD/Lab/Pharmacy/Billing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Strong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hardening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TV/kiosk/mobile/offline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Finish device workflows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600-bed HA/RPO target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Roadmap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Growth/Enterprise tier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Medical college suite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Partial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Stage after hospital workflows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Vendor maturity / risk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when asked why not simply pick a known vendor.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Vendor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Strength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Risk to control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Aosta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Mature HMS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Contract scope, ops cost, modern compliance speed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Zoho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Brand / platform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New healthcare product depth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Nuvertos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Fast-moving team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Maturing implementation depth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₹14L vendor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quote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already exposed reliability risk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3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Compliance detail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for NABH / ABDM / DPDPA questions.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Layer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SRS asks for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Position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Interop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HL7, FHIR, DICOM, ICD-10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FHIR/HL7 strong; DICOM production roadmap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Security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TLS, RBAC/MFA, audit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TLS/RBAC/audit strong; MFA rollout roadmap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Reporting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NABH dashboards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Indicators started; more data capture in roadmap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Patient safety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Medication, transfusion, MLC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Core built; barcode closed-loop roadmap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4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Team and internal support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if someone asks who will run it.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Role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Purpose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Why needed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Lead architect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Own architecture and delivery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Single accountable owner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Senior backend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Rust/Postgres/integrations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Safety, billing, compliance, APIs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Senior frontend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Clinical UX and forms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Workflow polish for staff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Hardware/L1 support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Devices, network, first response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Needed whether vendor or in-house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5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Go-live roadmap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when asked how we reduce implementation risk.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Phase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Timing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Scope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June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Setup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Team, hardware, migration plan, issue tracker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July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1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OPD + pharmacy parallel run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August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Pilot 2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IPD + lab + radiology + staff training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September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Go-live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Full hospital launch with daily command room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6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Technical cost discipline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only if asked about stack/cloud cost.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Choice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Reason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Business impact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Rust/Axum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memory, compile-time safety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Smaller servers, fewer runtime defects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Postgres + RLS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Tenant/data isolation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Safer multi-branch growth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SQLx offline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Compile-time query checks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Fewer deployment SQL failures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Open formats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FHIR/HL7/DICOM path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No proprietary data trap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7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8016" cy="6858000"/>
          </a:xfrm>
          <a:prstGeom prst="rect">
            <a:avLst/>
          </a:prstGeom>
          <a:solidFill>
            <a:srgbClr val="1F43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128016" y="0"/>
            <a:ext cx="12063983" cy="32004"/>
          </a:xfrm>
          <a:prstGeom prst="rect">
            <a:avLst/>
          </a:prstGeom>
          <a:solidFill>
            <a:srgbClr val="EEF2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9802368" y="329184"/>
            <a:ext cx="1261872" cy="274320"/>
          </a:xfrm>
          <a:prstGeom prst="roundRect">
            <a:avLst/>
          </a:prstGeom>
          <a:solidFill>
            <a:srgbClr val="F1E4C8"/>
          </a:solidFill>
          <a:ln>
            <a:solidFill>
              <a:srgbClr val="B8924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9921240" y="406908"/>
            <a:ext cx="1024128" cy="10972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720" b="1">
                <a:solidFill>
                  <a:srgbClr val="7D5F22"/>
                </a:solidFill>
                <a:latin typeface="IBM Plex Sans"/>
              </a:rPr>
              <a:t>Q&amp;A BACKUP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347472"/>
            <a:ext cx="6309360" cy="219456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30" b="1">
                <a:solidFill>
                  <a:srgbClr val="B8924A"/>
                </a:solidFill>
                <a:latin typeface="IBM Plex Sans"/>
              </a:rPr>
              <a:t>Q&amp;A BACKUP</a:t>
            </a:r>
          </a:p>
        </p:txBody>
      </p:sp>
      <p:sp>
        <p:nvSpPr>
          <p:cNvPr id="7" name="Rectangle 6"/>
          <p:cNvSpPr/>
          <p:nvPr/>
        </p:nvSpPr>
        <p:spPr>
          <a:xfrm>
            <a:off x="530352" y="685800"/>
            <a:ext cx="960120" cy="16459"/>
          </a:xfrm>
          <a:prstGeom prst="rect">
            <a:avLst/>
          </a:prstGeom>
          <a:solidFill>
            <a:srgbClr val="B8924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30352" y="804672"/>
            <a:ext cx="10698480" cy="786384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2600" b="1">
                <a:solidFill>
                  <a:srgbClr val="0F1412"/>
                </a:solidFill>
                <a:latin typeface="IBM Plex Sans"/>
              </a:rPr>
              <a:t>Strategic upside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554480"/>
            <a:ext cx="10378440" cy="438912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1230" b="0">
                <a:solidFill>
                  <a:srgbClr val="3E4A44"/>
                </a:solidFill>
                <a:latin typeface="IBM Plex Sans"/>
              </a:rPr>
              <a:t>Use this only after the core decision is clear.</a:t>
            </a:r>
          </a:p>
        </p:txBody>
      </p:sp>
      <p:sp>
        <p:nvSpPr>
          <p:cNvPr id="10" name="Rectangle 9"/>
          <p:cNvSpPr/>
          <p:nvPr/>
        </p:nvSpPr>
        <p:spPr>
          <a:xfrm>
            <a:off x="749808" y="2148840"/>
            <a:ext cx="214884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804671" y="223113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Path</a:t>
            </a:r>
          </a:p>
        </p:txBody>
      </p:sp>
      <p:sp>
        <p:nvSpPr>
          <p:cNvPr id="12" name="Rectangle 11"/>
          <p:cNvSpPr/>
          <p:nvPr/>
        </p:nvSpPr>
        <p:spPr>
          <a:xfrm>
            <a:off x="2898648" y="2148840"/>
            <a:ext cx="416052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2953512" y="223113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What it means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7059168" y="2148840"/>
            <a:ext cx="4251960" cy="502920"/>
          </a:xfrm>
          <a:prstGeom prst="rect">
            <a:avLst/>
          </a:prstGeom>
          <a:solidFill>
            <a:srgbClr val="E4EDE9"/>
          </a:solidFill>
          <a:ln w="6350">
            <a:solidFill>
              <a:srgbClr val="C4D5C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114031" y="223113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1">
                <a:solidFill>
                  <a:srgbClr val="1F4332"/>
                </a:solidFill>
                <a:latin typeface="IBM Plex Sans"/>
              </a:rPr>
              <a:t>Condition</a:t>
            </a:r>
          </a:p>
        </p:txBody>
      </p:sp>
      <p:sp>
        <p:nvSpPr>
          <p:cNvPr id="16" name="Rectangle 15"/>
          <p:cNvSpPr/>
          <p:nvPr/>
        </p:nvSpPr>
        <p:spPr>
          <a:xfrm>
            <a:off x="749808" y="265176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804671" y="273405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Internal launch</a:t>
            </a:r>
          </a:p>
        </p:txBody>
      </p:sp>
      <p:sp>
        <p:nvSpPr>
          <p:cNvPr id="18" name="Rectangle 17"/>
          <p:cNvSpPr/>
          <p:nvPr/>
        </p:nvSpPr>
        <p:spPr>
          <a:xfrm>
            <a:off x="2898648" y="265176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2953512" y="273405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Alagappa owns platform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059168" y="265176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114031" y="273405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Approve team and pilot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49808" y="315468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04671" y="323697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Sister hospital reuse</a:t>
            </a:r>
          </a:p>
        </p:txBody>
      </p:sp>
      <p:sp>
        <p:nvSpPr>
          <p:cNvPr id="24" name="Rectangle 23"/>
          <p:cNvSpPr/>
          <p:nvPr/>
        </p:nvSpPr>
        <p:spPr>
          <a:xfrm>
            <a:off x="2898648" y="315468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2953512" y="323697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Low marginal branch cost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7059168" y="315468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7114031" y="323697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Stabilize first site</a:t>
            </a:r>
          </a:p>
        </p:txBody>
      </p:sp>
      <p:sp>
        <p:nvSpPr>
          <p:cNvPr id="28" name="Rectangle 27"/>
          <p:cNvSpPr/>
          <p:nvPr/>
        </p:nvSpPr>
        <p:spPr>
          <a:xfrm>
            <a:off x="749808" y="365760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804671" y="373989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Peer hospital resale</a:t>
            </a:r>
          </a:p>
        </p:txBody>
      </p:sp>
      <p:sp>
        <p:nvSpPr>
          <p:cNvPr id="30" name="Rectangle 29"/>
          <p:cNvSpPr/>
          <p:nvPr/>
        </p:nvSpPr>
        <p:spPr>
          <a:xfrm>
            <a:off x="2898648" y="365760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2953512" y="373989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Revenue option, not main reason</a:t>
            </a:r>
          </a:p>
        </p:txBody>
      </p:sp>
      <p:sp>
        <p:nvSpPr>
          <p:cNvPr id="32" name="Rectangle 31"/>
          <p:cNvSpPr/>
          <p:nvPr/>
        </p:nvSpPr>
        <p:spPr>
          <a:xfrm>
            <a:off x="7059168" y="365760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TextBox 32"/>
          <p:cNvSpPr txBox="1"/>
          <p:nvPr/>
        </p:nvSpPr>
        <p:spPr>
          <a:xfrm>
            <a:off x="7114031" y="373989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After 12 months live proof</a:t>
            </a:r>
          </a:p>
        </p:txBody>
      </p:sp>
      <p:sp>
        <p:nvSpPr>
          <p:cNvPr id="34" name="Rectangle 33"/>
          <p:cNvSpPr/>
          <p:nvPr/>
        </p:nvSpPr>
        <p:spPr>
          <a:xfrm>
            <a:off x="749808" y="4160520"/>
            <a:ext cx="214884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TextBox 34"/>
          <p:cNvSpPr txBox="1"/>
          <p:nvPr/>
        </p:nvSpPr>
        <p:spPr>
          <a:xfrm>
            <a:off x="804671" y="4242816"/>
            <a:ext cx="203911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Regional credibility</a:t>
            </a:r>
          </a:p>
        </p:txBody>
      </p:sp>
      <p:sp>
        <p:nvSpPr>
          <p:cNvPr id="36" name="Rectangle 35"/>
          <p:cNvSpPr/>
          <p:nvPr/>
        </p:nvSpPr>
        <p:spPr>
          <a:xfrm>
            <a:off x="2898648" y="4160520"/>
            <a:ext cx="416052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TextBox 36"/>
          <p:cNvSpPr txBox="1"/>
          <p:nvPr/>
        </p:nvSpPr>
        <p:spPr>
          <a:xfrm>
            <a:off x="2953512" y="4242816"/>
            <a:ext cx="4050791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Legacy institution as reference</a:t>
            </a:r>
          </a:p>
        </p:txBody>
      </p:sp>
      <p:sp>
        <p:nvSpPr>
          <p:cNvPr id="38" name="Rectangle 37"/>
          <p:cNvSpPr/>
          <p:nvPr/>
        </p:nvSpPr>
        <p:spPr>
          <a:xfrm>
            <a:off x="7059168" y="4160520"/>
            <a:ext cx="4251960" cy="502920"/>
          </a:xfrm>
          <a:prstGeom prst="rect">
            <a:avLst/>
          </a:prstGeom>
          <a:solidFill>
            <a:srgbClr val="FFFFFF"/>
          </a:solidFill>
          <a:ln w="6350">
            <a:solidFill>
              <a:srgbClr val="E7EBE8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TextBox 38"/>
          <p:cNvSpPr txBox="1"/>
          <p:nvPr/>
        </p:nvSpPr>
        <p:spPr>
          <a:xfrm>
            <a:off x="7114031" y="4242816"/>
            <a:ext cx="4142232" cy="411480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ctr">
              <a:spcAft>
                <a:spcPts val="0"/>
              </a:spcAft>
            </a:pPr>
            <a:r>
              <a:rPr sz="880" b="0">
                <a:solidFill>
                  <a:srgbClr val="3E4A44"/>
                </a:solidFill>
                <a:latin typeface="IBM Plex Sans"/>
              </a:rPr>
              <a:t>Quality before sales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20624" y="6565392"/>
            <a:ext cx="6675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l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Alagappa Hospital · MedBrains in-house HMS · May 2026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10588752" y="6565392"/>
            <a:ext cx="960120" cy="201168"/>
          </a:xfrm>
          <a:prstGeom prst="rect">
            <a:avLst/>
          </a:prstGeom>
          <a:noFill/>
        </p:spPr>
        <p:txBody>
          <a:bodyPr wrap="square" anchor="t">
            <a:noAutofit/>
          </a:bodyPr>
          <a:lstStyle/>
          <a:p>
            <a:pPr algn="r">
              <a:spcAft>
                <a:spcPts val="0"/>
              </a:spcAft>
            </a:pPr>
            <a:r>
              <a:rPr sz="750" b="0">
                <a:solidFill>
                  <a:srgbClr val="8A938F"/>
                </a:solidFill>
                <a:latin typeface="IBM Plex Sans"/>
              </a:rPr>
              <a:t>Backup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