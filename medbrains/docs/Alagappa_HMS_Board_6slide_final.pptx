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CHAIRMAN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960120"/>
            <a:ext cx="80467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F1412"/>
                </a:solidFill>
                <a:latin typeface="IBM Plex Sans"/>
              </a:rPr>
              <a:t>Own the digital hospital.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87782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A 75-year legacy institution should not rent its operating backbone.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9424"/>
            <a:ext cx="804672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70" b="0">
                <a:solidFill>
                  <a:srgbClr val="3E4A44"/>
                </a:solidFill>
                <a:latin typeface="IBM Plex Sans"/>
              </a:rPr>
              <a:t>The HMS will become the daily system of trust for patients, doctors, billing, compliance, teaching and future branches. This is an institutional asset decision, not an IT purchase.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19856"/>
            <a:ext cx="21488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75304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4332"/>
                </a:solidFill>
                <a:latin typeface="IBM Plex San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86784"/>
            <a:ext cx="1819656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new software licence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3419856"/>
            <a:ext cx="21488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3575304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4332"/>
                </a:solidFill>
                <a:latin typeface="IBM Plex Sans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986784"/>
            <a:ext cx="1819656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modules already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3419856"/>
            <a:ext cx="23317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2976" y="3575304"/>
            <a:ext cx="200253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B8924A"/>
                </a:solidFill>
                <a:latin typeface="IBM Plex Sans"/>
              </a:rPr>
              <a:t>600-bed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3986784"/>
            <a:ext cx="2002536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requirements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1051560"/>
            <a:ext cx="2788920" cy="416052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389888"/>
            <a:ext cx="2240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1F4332"/>
                </a:solidFill>
                <a:latin typeface="IBM Plex Sans"/>
              </a:rPr>
              <a:t>The board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792224"/>
            <a:ext cx="20574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412"/>
                </a:solidFill>
                <a:latin typeface="IBM Plex Sans"/>
              </a:rPr>
              <a:t>Will Alagappa own its hospital platform, or depend on a vendor for every future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342900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3429000"/>
            <a:ext cx="184708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60" b="0">
                <a:solidFill>
                  <a:srgbClr val="3E4A44"/>
                </a:solidFill>
                <a:latin typeface="IBM Plex Sans"/>
              </a:rPr>
              <a:t>Protect patient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83133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3831336"/>
            <a:ext cx="184708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60" b="0">
                <a:solidFill>
                  <a:srgbClr val="3E4A44"/>
                </a:solidFill>
                <a:latin typeface="IBM Plex Sans"/>
              </a:rPr>
              <a:t>Control future branches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233672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4233672"/>
            <a:ext cx="184708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60" b="0">
                <a:solidFill>
                  <a:srgbClr val="3E4A44"/>
                </a:solidFill>
                <a:latin typeface="IBM Plex Sans"/>
              </a:rPr>
              <a:t>Move faster than vendors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THE VENDOR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Buying looks simple; dependency becomes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A vendor contract gives a system. Ownership gives control over cost, change, data and branch expansion.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304288"/>
            <a:ext cx="31546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27432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332"/>
                </a:solidFill>
                <a:latin typeface="IBM Plex Sans"/>
              </a:rPr>
              <a:t>Cost grows after signing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0400"/>
            <a:ext cx="2670048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3E4A44"/>
                </a:solidFill>
                <a:latin typeface="IBM Plex Sans"/>
              </a:rPr>
              <a:t>AMC, hosting, training, data migration, change requests and upgrades sit outside the headline quote.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304288"/>
            <a:ext cx="31546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633472"/>
            <a:ext cx="27432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332"/>
                </a:solidFill>
                <a:latin typeface="IBM Plex Sans"/>
              </a:rPr>
              <a:t>Change waits on vendor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200400"/>
            <a:ext cx="2670048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3E4A44"/>
                </a:solidFill>
                <a:latin typeface="IBM Plex Sans"/>
              </a:rPr>
              <a:t>Every compliance update, workflow change or device integration becomes a quote and a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304288"/>
            <a:ext cx="31546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633472"/>
            <a:ext cx="27432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D5F22"/>
                </a:solidFill>
                <a:latin typeface="IBM Plex Sans"/>
              </a:rPr>
              <a:t>Data and branch growth get trapped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200400"/>
            <a:ext cx="2670048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3E4A44"/>
                </a:solidFill>
                <a:latin typeface="IBM Plex Sans"/>
              </a:rPr>
              <a:t>A second branch or exit request can become a fresh commercial negotiation.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4956048"/>
            <a:ext cx="10515600" cy="68580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12080"/>
            <a:ext cx="1001268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40" b="1">
                <a:solidFill>
                  <a:srgbClr val="0F1412"/>
                </a:solidFill>
                <a:latin typeface="IBM Plex Sans"/>
              </a:rPr>
              <a:t>Board takeaway: vendor risk is not only software quality. It is long-term dependence over hospital operations.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FINANCIAL 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The financially disciplined path is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Compare three-year cost of ownership, not the first invoice.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3E4A44"/>
                </a:solidFill>
                <a:latin typeface="IBM Plex Sans"/>
              </a:rPr>
              <a:t>Large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2532888"/>
            <a:ext cx="6263640" cy="201168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2032" y="2532888"/>
            <a:ext cx="4384548" cy="201168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468880"/>
            <a:ext cx="111556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9816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3E4A44"/>
                </a:solidFill>
                <a:latin typeface="IBM Plex Sans"/>
              </a:rPr>
              <a:t>New platform vendor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3136392"/>
            <a:ext cx="6263640" cy="201168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3136392"/>
            <a:ext cx="5825185" cy="201168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072384"/>
            <a:ext cx="111556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03320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3E4A44"/>
                </a:solidFill>
                <a:latin typeface="IBM Plex Sans"/>
              </a:rPr>
              <a:t>Low-cost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032" y="3739896"/>
            <a:ext cx="6263640" cy="201168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2032" y="3739896"/>
            <a:ext cx="1973046" cy="20116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675888"/>
            <a:ext cx="111556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IBM Plex Sans"/>
              </a:rPr>
              <a:t>₹63 L +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06824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4343400"/>
            <a:ext cx="6263640" cy="201168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42032" y="4343400"/>
            <a:ext cx="2568092" cy="201168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4279392"/>
            <a:ext cx="111556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~₹82 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76272"/>
            <a:ext cx="1298448" cy="2670048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423160"/>
            <a:ext cx="1024128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4332"/>
                </a:solidFill>
                <a:latin typeface="IBM Plex Sans"/>
              </a:rPr>
              <a:t>In-house includes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8" y="2816352"/>
            <a:ext cx="987552" cy="12984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cloud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DR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internal support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hardware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596128"/>
            <a:ext cx="100584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60" b="1">
                <a:solidFill>
                  <a:srgbClr val="0F1412"/>
                </a:solidFill>
                <a:latin typeface="IBM Plex Sans"/>
              </a:rPr>
              <a:t>The in-house path does not eliminate cost. It converts spend into a capability Alagappa owns.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Enough is built to pilot; scale is managed through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The current product covers the core hospital journey. The full SRS target is staged, not overclaimed.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1664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615184"/>
            <a:ext cx="1408176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Patient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880360"/>
            <a:ext cx="140817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registration</a:t>
            </a:r>
          </a:p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0864" y="2852928"/>
            <a:ext cx="38404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2377440"/>
            <a:ext cx="1664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2615184"/>
            <a:ext cx="1408176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Clinical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80360"/>
            <a:ext cx="140817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OPD/IPD</a:t>
            </a:r>
          </a:p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9704" y="2852928"/>
            <a:ext cx="38404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56048" y="2377440"/>
            <a:ext cx="1664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2615184"/>
            <a:ext cx="1408176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880360"/>
            <a:ext cx="140817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lab/radiology</a:t>
            </a:r>
          </a:p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blood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2852928"/>
            <a:ext cx="38404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04888" y="2377440"/>
            <a:ext cx="1664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904" y="2615184"/>
            <a:ext cx="1408176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Pharmacy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2880360"/>
            <a:ext cx="140817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dispense</a:t>
            </a:r>
          </a:p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7384" y="2852928"/>
            <a:ext cx="38404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2377440"/>
            <a:ext cx="1664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2615184"/>
            <a:ext cx="1408176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880360"/>
            <a:ext cx="140817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audit</a:t>
            </a:r>
          </a:p>
          <a:p>
            <a:pPr algn="ctr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NABH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224528"/>
            <a:ext cx="3063240" cy="1225296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6227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F4332"/>
                </a:solidFill>
                <a:latin typeface="IBM Plex Sans"/>
              </a:rPr>
              <a:t>Ready for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7731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731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Patient registration and 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017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0017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OPD/IPD workflows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2303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2303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Billing, pharmacy, diagnostics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0248" y="4224528"/>
            <a:ext cx="3063240" cy="1225296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446227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B45309"/>
                </a:solidFill>
                <a:latin typeface="IBM Plex Sans"/>
              </a:rPr>
              <a:t>Needs 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47731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7731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TV/kiosk polish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8" y="50017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0017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Mobile/offline rollout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52303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2303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Inter-module auto-fill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90688" y="4224528"/>
            <a:ext cx="3063240" cy="1225296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7" y="446227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BE123C"/>
                </a:solidFill>
                <a:latin typeface="IBM Plex Sans"/>
              </a:rPr>
              <a:t>Enterprise 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7" y="47731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7731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99.99% high availability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7" y="50017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50017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RPO &lt;15 min disaster recovery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7" y="523036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5230368"/>
            <a:ext cx="2441448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3E4A44"/>
                </a:solidFill>
                <a:latin typeface="IBM Plex Sans"/>
              </a:rPr>
              <a:t>Full medical college suite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RISK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Do not launch by faith. Launch by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A board-safe rollout is phased, measured and supported before full cutover.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33172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615184"/>
            <a:ext cx="411480" cy="4114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06624"/>
            <a:ext cx="4114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96896"/>
            <a:ext cx="14173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4332"/>
                </a:solidFill>
                <a:latin typeface="IBM Plex Sans"/>
              </a:rPr>
              <a:t>Pilot narrow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990088"/>
            <a:ext cx="14173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3E4A44"/>
                </a:solidFill>
                <a:latin typeface="IBM Plex Sans"/>
              </a:rPr>
              <a:t>OPD + pharmacy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2331720"/>
            <a:ext cx="233172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4176" y="2615184"/>
            <a:ext cx="411480" cy="4114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706624"/>
            <a:ext cx="4114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596896"/>
            <a:ext cx="14173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4332"/>
                </a:solidFill>
                <a:latin typeface="IBM Plex Sans"/>
              </a:rPr>
              <a:t>Fix 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990088"/>
            <a:ext cx="14173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3E4A44"/>
                </a:solidFill>
                <a:latin typeface="IBM Plex Sans"/>
              </a:rPr>
              <a:t>P0/P1 issue owner and SLA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331720"/>
            <a:ext cx="233172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2615184"/>
            <a:ext cx="411480" cy="4114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706624"/>
            <a:ext cx="4114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596896"/>
            <a:ext cx="14173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F4332"/>
                </a:solidFill>
                <a:latin typeface="IBM Plex Sans"/>
              </a:rPr>
              <a:t>Support floor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990088"/>
            <a:ext cx="14173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3E4A44"/>
                </a:solidFill>
                <a:latin typeface="IBM Plex Sans"/>
              </a:rPr>
              <a:t>hardware + first-level desk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331720"/>
            <a:ext cx="233172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53728" y="2615184"/>
            <a:ext cx="411480" cy="411480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706624"/>
            <a:ext cx="411480" cy="12801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596896"/>
            <a:ext cx="14173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7D5F22"/>
                </a:solidFill>
                <a:latin typeface="IBM Plex Sans"/>
              </a:rPr>
              <a:t>Expand only when stable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990088"/>
            <a:ext cx="14173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3E4A44"/>
                </a:solidFill>
                <a:latin typeface="IBM Plex Sans"/>
              </a:rPr>
              <a:t>IPD/lab/radiology after proof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4892040"/>
            <a:ext cx="1010412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38928"/>
            <a:ext cx="964692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F1412"/>
                </a:solidFill>
                <a:latin typeface="IBM Plex Sans"/>
              </a:rPr>
              <a:t>Management control: weekly steering review, daily command room during pilot, and no big-bang cutover.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Approve the in-house HMS path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This is the approval needed to protect cost, control and institutional independence.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121408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17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12264"/>
            <a:ext cx="2331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F4332"/>
                </a:solidFill>
                <a:latin typeface="IBM Plex Sans"/>
              </a:rPr>
              <a:t>Approve the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12264"/>
            <a:ext cx="7178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3E4A44"/>
                </a:solidFill>
                <a:latin typeface="IBM Plex Sans"/>
              </a:rPr>
              <a:t>Build in-house as the primary HMS path; keep vendors only as negotiation fallback.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191256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8726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182112"/>
            <a:ext cx="2331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F4332"/>
                </a:solidFill>
                <a:latin typeface="IBM Plex Sans"/>
              </a:rPr>
              <a:t>Approve the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82112"/>
            <a:ext cx="7178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3E4A44"/>
                </a:solidFill>
                <a:latin typeface="IBM Plex Sans"/>
              </a:rPr>
              <a:t>Fund two senior engineers plus internal hardware / first-level support.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261104"/>
            <a:ext cx="475488" cy="475488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57116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251960"/>
            <a:ext cx="2331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7D5F22"/>
                </a:solidFill>
                <a:latin typeface="IBM Plex Sans"/>
              </a:rPr>
              <a:t>Approve the pilot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51960"/>
            <a:ext cx="7178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3E4A44"/>
                </a:solidFill>
                <a:latin typeface="IBM Plex Sans"/>
              </a:rPr>
              <a:t>Start OPD + pharmacy pilot, track issues daily, expand only after stability.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BM Plex Sans"/>
              </a:rPr>
              <a:t>Close: preserve the legacy, own the platform, and build the technology capability Alagappa needs for the next decade.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For questions on the ₹82 L in-house envelope.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Cost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Recurring vendor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software licence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Cloud / DR /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May be separate or contract-specific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 in envelope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Still needs hospital first-level desk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support named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Mapped against the SRS at a board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Board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HMS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Ready for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 narrow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Mobile / TV / kiosk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before broad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High availability / RPO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Upgrade infra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Vendor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If asked why not choose one vendor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What is 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Main board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Scope and long-term dependence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 strength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 builder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Maturity and ops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price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already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If asked about audit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Requirement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Next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 data captures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ABDM / NHCX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Code ready / registrations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Activate when approvals clear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Audit / DPDPA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Keep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DICOM / barcode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Build after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Team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If asked who will run and support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 board should care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Single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Senior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Billing, data, 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Senior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Staff workflow polish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Adoption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 + L1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First response desk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Rollout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If asked how the launch is controlled.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Timing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June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Team, infra, data migration, training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July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OPD + pharmacy parallel 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August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IPD + lab + radiology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September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Command room and weekly steering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Only after the core approval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2240280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40280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52344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752344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the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752344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3264408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Branch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264408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expansion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264408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3776472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 resale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4096" y="3776472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Potential 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3776472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12 months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4288536"/>
            <a:ext cx="21122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4288536"/>
            <a:ext cx="38039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Institution as technology reference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6016" y="4288536"/>
            <a:ext cx="426110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