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INTERNAL PROPOSAL ·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0">
                <a:solidFill>
                  <a:srgbClr val="0F1412"/>
                </a:solidFill>
                <a:latin typeface="Fraunces"/>
              </a:rPr>
              <a:t>Don't buy.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1">
                <a:solidFill>
                  <a:srgbClr val="1F4332"/>
                </a:solidFill>
                <a:latin typeface="Fraunces"/>
              </a:rPr>
              <a:t>Build.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F1412"/>
                </a:solidFill>
                <a:latin typeface="Fraunces"/>
              </a:rPr>
              <a:t>Four HMS quotes on the table. </a:t>
            </a:r>
            <a:r>
              <a:rPr sz="2000" b="1" i="0">
                <a:solidFill>
                  <a:srgbClr val="B8924A"/>
                </a:solidFill>
                <a:latin typeface="Fraunces"/>
              </a:rPr>
              <a:t>Hospital launches in 4 months.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A706D"/>
                </a:solidFill>
                <a:latin typeface="Inter Tight"/>
              </a:rPr>
              <a:t>Pay ₹14L–₹70L upfront to a vendor — or spend a fraction this year and own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A706D"/>
                </a:solidFill>
                <a:latin typeface="JetBrains Mono"/>
              </a:rPr>
              <a:t>Presented by [Your name]  ·  Lead Engineer / Tech Architect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 WE'VE ACTUALLY BEEN QUOTED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0F1412"/>
                </a:solidFill>
                <a:latin typeface="Fraunces"/>
              </a:rPr>
              <a:t>Four vendors. </a:t>
            </a:r>
            <a:r>
              <a:rPr sz="3000" b="1" i="0">
                <a:solidFill>
                  <a:srgbClr val="B8924A"/>
                </a:solidFill>
                <a:latin typeface="Fraunces"/>
              </a:rPr>
              <a:t>₹14L to ₹90L.</a:t>
            </a:r>
            <a:r>
              <a:rPr sz="3000" b="0" i="0">
                <a:solidFill>
                  <a:srgbClr val="0F1412"/>
                </a:solidFill>
                <a:latin typeface="Fraunces"/>
              </a:rPr>
              <a:t> Each one a different gamble.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23317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JetBrains Mono"/>
              </a:rPr>
              <a:t>Mature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F1412"/>
                </a:solidFill>
                <a:latin typeface="Fraunces"/>
              </a:rPr>
              <a:t>Aosta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A706D"/>
                </a:solidFill>
                <a:latin typeface="JetBrains Mono"/>
              </a:rPr>
              <a:t>founded 1997 · 28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4332"/>
                </a:solidFill>
                <a:latin typeface="Fraunces"/>
              </a:rPr>
              <a:t>₹90L → ₹50L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A706D"/>
                </a:solidFill>
                <a:latin typeface="JetBrains Mono"/>
              </a:rPr>
              <a:t>negotiated down ₹40L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Mature, but legacy stack. Bolted-on ABDM.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94560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41280" y="23317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JetBrains Mono"/>
              </a:rPr>
              <a:t>New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317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F1412"/>
                </a:solidFill>
                <a:latin typeface="Fraunces"/>
              </a:rPr>
              <a:t>Zoho Healthcare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432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A706D"/>
                </a:solidFill>
                <a:latin typeface="JetBrains Mono"/>
              </a:rPr>
              <a:t>early-access 2025 · ~1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0632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6B422"/>
                </a:solidFill>
                <a:latin typeface="Fraunces"/>
              </a:rPr>
              <a:t>₹70L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A706D"/>
                </a:solidFill>
                <a:latin typeface="JetBrains Mono"/>
              </a:rPr>
              <a:t>+ services on 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490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Brand power, but NEW product. Limited HMS depth.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97679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0" y="4434839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JetBrains Mono"/>
              </a:rPr>
              <a:t>Maturing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34839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F1412"/>
                </a:solidFill>
                <a:latin typeface="Fraunces"/>
              </a:rPr>
              <a:t>Nuvertos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46319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A706D"/>
                </a:solidFill>
                <a:latin typeface="JetBrains Mono"/>
              </a:rPr>
              <a:t>founded 2021 · 5 years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66359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B8924A"/>
                </a:solidFill>
                <a:latin typeface="Fraunces"/>
              </a:rPr>
              <a:t>₹20L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23559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A706D"/>
                </a:solidFill>
                <a:latin typeface="JetBrains Mono"/>
              </a:rPr>
              <a:t>+ services on 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52159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Started 2021 with one prescription module. Still building.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297679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41280" y="4434839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JetBrains Mono"/>
              </a:rPr>
              <a:t>Failed 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434839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F1412"/>
                </a:solidFill>
                <a:latin typeface="Fraunces"/>
              </a:rPr>
              <a:t>Unnamed (₹14L vendor)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846319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A706D"/>
                </a:solidFill>
                <a:latin typeface="JetBrains Mono"/>
              </a:rPr>
              <a:t>1-year-old company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166359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C8102E"/>
                </a:solidFill>
                <a:latin typeface="Fraunces"/>
              </a:rPr>
              <a:t>₹14L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623559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A706D"/>
                </a:solidFill>
                <a:latin typeface="JetBrains Mono"/>
              </a:rPr>
              <a:t>we already paid for this lesson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852159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Bugs everywhere. Service unreliable. Cost: more than the price.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A706D"/>
                </a:solidFill>
                <a:latin typeface="JetBrains Mono"/>
              </a:rPr>
              <a:t>Sources: vendor proposals Mar–Apr 2026 · Aosta corporate (1997) · Nuvertos Crunchbase (2021) · Zoho Healthcare digest (early-access 2025).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WHAT'S NOT IN THE QUOTE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The quote is the </a:t>
            </a:r>
            <a:r>
              <a:rPr sz="3200" b="1" i="0">
                <a:solidFill>
                  <a:srgbClr val="B8924A"/>
                </a:solidFill>
                <a:latin typeface="Fraunces"/>
              </a:rPr>
              <a:t>down-payment.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4884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Hidden cost line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Typical add-on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Real impact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Annual AMC (15–22% of licence)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₹7.5L–₹19L per year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Pays vendor forever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Implementation + data migration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₹5L–₹15L one-time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Often slips 2–6 months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Per-user training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₹3K–₹8K × 300 staff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₹9L–₹24L hidden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Module add-ons (NHCX, ABDM, DICOM)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₹50K–₹5L each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Charged separately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Customisation / change requests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₹15K–₹40K per change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Every workflow tweak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Compliance updates (DLT, GST IRN)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₹2L–₹10L per change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Vendor-paced, not yours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Per-branch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₹2L–₹3L per bed × new branch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Kills future expansion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Integration / API access fees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₹1L–₹5L per integration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Lock-in mechanism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263640"/>
            <a:ext cx="11155680" cy="292608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Real 3-year TCO for any of these vendors lands in the ₹1.2–9 cr range — far above the headline quote.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 INDIA'S REGULATORS ACTUALLY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Look at the </a:t>
            </a:r>
            <a:r>
              <a:rPr sz="3200" b="0" i="1">
                <a:solidFill>
                  <a:srgbClr val="1F4332"/>
                </a:solidFill>
                <a:latin typeface="Fraunces"/>
              </a:rPr>
              <a:t>compliance gap.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Capability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Aosta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Zoho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Nuvertos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₹14L vendor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Build (us)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ABDM ABHA verify + linkage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claimed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code ready · reg applied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ABDM HIE-CM bundle push (FHIR)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code ready · reg applied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NHCX preauth + claim (JWE/JWS)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code ready · participant pending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DLT SMS template enforcement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Schedule H/H1/X dispense gate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NDPS auto-register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PCPNDT Form-F · MLC · PvPI · CDSCO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forms ready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DPDPA 2023 consent + audit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41148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Honest note: </a:t>
            </a:r>
            <a:r>
              <a:rPr sz="1000" b="0" i="0">
                <a:solidFill>
                  <a:srgbClr val="1F4332"/>
                </a:solidFill>
                <a:latin typeface="Inter Tight"/>
              </a:rPr>
              <a:t>ABDM Health Facility ID + HIMS registration applied (two separate workstreams). Code complete, sandbox-tested. Vendors haven't even applied.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COMPLIANCE GAP · 2 OF 2 — INTEROP, SECURITY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And the layers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auditors actually inspect.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Capability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Aosta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Zoho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Nuvertos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₹14L vendor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Build (us)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FHIR R4 read API (Patient/Encounter/...)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HL7 v2 MLLP listener (lab analyzers)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yes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Multi-tenant / multi-branch (RLS)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per-deploy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yes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yes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single-tenant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Immutable audit hash-chain log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Ed25519 JWT + Argon2id passwords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ReBAC permissions (SpiceDB)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 only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CRDT offline-first sync (mobile)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Source ownership + on-prem deploy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 own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ours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41148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Why this matters: </a:t>
            </a:r>
            <a:r>
              <a:rPr sz="1000" b="0" i="0">
                <a:solidFill>
                  <a:srgbClr val="1F4332"/>
                </a:solidFill>
                <a:latin typeface="Inter Tight"/>
              </a:rPr>
              <a:t>NABH IT-security audit checks every row above. Vendors will lose marks. We won't.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TRUST CHECK · VENDOR MATURITY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Some vendors are </a:t>
            </a:r>
            <a:r>
              <a:rPr sz="2800" b="1" i="0">
                <a:solidFill>
                  <a:srgbClr val="B8924A"/>
                </a:solidFill>
                <a:latin typeface="Fraunces"/>
              </a:rPr>
              <a:t>still figuring out what HMS 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1997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2011680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08483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Aosta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774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28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157984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Mature codebase. Old VB/.NET stack. Slow to ship modern features (ABDM, NHCX added late).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24912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2724912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2798064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Insta (Practo)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09067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18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871216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1,250+ centers. Strong UX. Reported bugs in doctor-payment + IVF modules. Per-installation pricing $5K+.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38144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1996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3438144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351129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Suvarna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80390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30 years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584448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Hyderabad-based. Enterprise-grade for multi-branch chains. Slower compliance turnaround.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51376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2021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4151376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422452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Nuvertos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17136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5 years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2976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Engineer-founded. Started w/ one prescription module → 34 modules now. Rapid but still maturing.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64608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45920" y="4864608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49377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Zoho Healthcare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23036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1 year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5010912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Just left early-access. Brand power but no production-tested HMS depth in India yet.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577840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2025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45920" y="5577840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565099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₹14L vendor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9436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1 year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5724144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No track record. Bugs we already paid to discover. Service was never going to scale to 200 beds.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THE LOCK-IN TRAP · WHY HOSPITAL HMS IS BAD LOVE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412"/>
                </a:solidFill>
                <a:latin typeface="Fraunces"/>
              </a:rPr>
              <a:t>It's not a contract. </a:t>
            </a:r>
            <a:r>
              <a:rPr sz="3400" b="1" i="1">
                <a:solidFill>
                  <a:srgbClr val="B8924A"/>
                </a:solidFill>
                <a:latin typeface="Fraunces"/>
              </a:rPr>
              <a:t>It's a marriage.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A706D"/>
                </a:solidFill>
                <a:latin typeface="Inter Tight"/>
              </a:rPr>
              <a:t>Every feature request becomes a money request. Every regulation change becomes a quote. Every branch becomes another licence.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"Add WhatsApp prescription delivery."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2724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₹1.5 L change request · 3 months ETA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7860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"ABDM spec just updated — please patch."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2724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Compliance module v3.1 · ₹4 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7472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"We're opening a second branch."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159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Per-bed licence × new beds · ₹2 L/bed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7472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5661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6732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"We want to integrate the new lab analyzer."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1480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159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API access fee · ₹3 L + integration support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6344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7548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95604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"GST e-invoice IRN — when?"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035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50468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On our roadmap · 6-9 months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66344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7548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95604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"We want our data and want to leave."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035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50468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Custom export · quote pending · 3 mo delay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98932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6053328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After 3 years AMC = original licence. </a:t>
            </a:r>
            <a:r>
              <a:rPr sz="1100" b="1" i="0">
                <a:solidFill>
                  <a:srgbClr val="8E6F32"/>
                </a:solidFill>
                <a:latin typeface="Inter Tight"/>
              </a:rPr>
              <a:t>After 5 = double. After 10 = you can't afford to leave. </a:t>
            </a:r>
            <a:r>
              <a:rPr sz="1100" b="1" i="0">
                <a:solidFill>
                  <a:srgbClr val="1F4332"/>
                </a:solidFill>
                <a:latin typeface="Inter Tight"/>
              </a:rPr>
              <a:t>In-house = no exit cost, ever.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WHY ME ·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0">
                <a:solidFill>
                  <a:srgbClr val="0F1412"/>
                </a:solidFill>
                <a:latin typeface="Fraunces"/>
              </a:rPr>
              <a:t>I've already </a:t>
            </a:r>
            <a:r>
              <a:rPr sz="3600" b="0" i="1">
                <a:solidFill>
                  <a:srgbClr val="1F4332"/>
                </a:solidFill>
                <a:latin typeface="Fraunces"/>
              </a:rPr>
              <a:t>built</a:t>
            </a:r>
            <a:r>
              <a:rPr sz="3600" b="0" i="0">
                <a:solidFill>
                  <a:srgbClr val="0F1412"/>
                </a:solidFill>
                <a:latin typeface="Fraunces"/>
              </a:rPr>
              <a:t> 80% of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18 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solo 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945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816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modules architected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103120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1945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998 / 2,566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816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features shipped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83279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74719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96511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modules production-ready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383279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474719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250k+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096511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lines of 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383279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474719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9 + 3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096511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regulators wired (3 pending registration)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46320"/>
            <a:ext cx="11155680" cy="15544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98348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STACK MASTERY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5780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Rust 2024 (zero unsafe, clippy::pedantic clean)  ·  Axum 0.8  ·  PostgreSQL 16 + RLS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React 18  ·  Mantine v7  ·  TanStack Query  ·  Zustand  ·  Biome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JWE/JWS crypto  ·  FHIR R4  ·  HL7 v2 MLLP  ·  NHCX  ·  ABDM  ·  DLT  ·  SpiceDB ReBAC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WHAT'S ALREADY RUNNING · CLINICAL &amp;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44 production modules.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Live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Clinical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OPD — registration, queue, encounters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IPD — admissions, beds, discharge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ICU — flowsheets, ventilator, sepsis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Emergency — triage, MLC, code-blue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OT — scheduling, surgical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MRD — file lifecycle, retention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Nurse Clinical — vitals, meds, handoff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Bedside Portal — patient + family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Diagnostics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Lab Phase 1+2+3 — NABL, LOINC, EQAS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Histopath / cytology / molecular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Sample archive · home collection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Radiology — modalities, worklist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Blood Bank — donor, TTI, crossmatch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Pharmacy 1+2+3 — NDPS register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Schedule H/H1/X dispense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Formulary + AWaRe stewardship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Support &amp; specialty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CSSD — sterilisation cycles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Diet &amp; Kitchen — orders, allergens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Quality — NABH indicators, RCA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Infection Control — surveillance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Camp Management — registrations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Patient Experience · Care 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Chronic Care · Case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Psychiatry · Medical College · LMS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WHAT'S ALREADY RUNNING · ADMIN, FINANCE &amp;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F1412"/>
                </a:solidFill>
                <a:latin typeface="Fraunces"/>
              </a:rPr>
              <a:t>Plus the layers </a:t>
            </a:r>
            <a:r>
              <a:rPr sz="2600" b="0" i="1">
                <a:solidFill>
                  <a:srgbClr val="1F4332"/>
                </a:solidFill>
                <a:latin typeface="Fraunces"/>
              </a:rPr>
              <a:t>vendors charge extra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Administrative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Front Office — visitors, queue, enquiry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HR — designations, roster, leave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Multi-Hospital — branch hierarchy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Facilities — gas, fire, water,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IT Security — RBAC, audit hash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CMS — content + signage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Inventory + Procurement 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Housekeeping · Linen · Ambulance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Financial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Billing 1+2+3 — invoices, packages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GST — GSTR-1, HSN, IRP-ready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TDS + 26AS reconciliation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Insurance — schemes, rate 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NHCX — preauth + claim + JWE/JWS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TPA bank reconciliation auto-match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Insurance receivables aging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Journal entries · P&amp;L · Balance sheet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Integrations &amp; 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ABDM code ready · registration applied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NHCX preauth/claim built · participant pending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FHIR R4 — Patient/Encounter/Bundle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HL7 v2 MLLP listener (analyzers)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Twilio SMS + DLT enforcement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WhatsApp Cloud API (Meta) · SendGrid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PCPNDT · MLC · PvPI · CDSCO forms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Consent · DPDPA · audit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REAL 3-YEAR TCO · 200 BEDS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Headline price ≠ real cost.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Apples to apples.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/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Aosta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Zoho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Nuvertos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₹14L vendor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Build in-house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Initial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₹50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₹70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₹20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Implementation + data migration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₹15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₹10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₹8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₹3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0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3-yr AMC (~18%)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₹27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₹37.8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₹10.8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₹7.6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Module add-ons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₹10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₹15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₹8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n/a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0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Customisation 3 yr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₹15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₹12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₹6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₹3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Training (300 staff)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₹9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₹9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₹6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₹3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0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Hardware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Operations (team + cloud + DR over 3 yr)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/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/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/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/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₹68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 3-year total 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₹1.40 cr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₹1.68 cr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₹0.73 cr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₹0.45 cr +bugs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₹0.82 cr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36576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Even at similar 3-yr cost, in-house gives: </a:t>
            </a:r>
            <a:r>
              <a:rPr sz="1000" b="1" i="0">
                <a:solidFill>
                  <a:srgbClr val="1F4332"/>
                </a:solidFill>
                <a:latin typeface="Inter Tight"/>
              </a:rPr>
              <a:t>source ownership · zero AMC after Y3 · resale revenue · ₹0 marginal branch expansion.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PRE-LAUNCH BUDGET · UNTIL OPENING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What we actually pay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before patients walk in.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Cost line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Vendor (avg of 4 quotes)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Build in-house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412"/>
                          </a:solidFill>
                          <a:latin typeface="Inter Tight"/>
                        </a:rPr>
                        <a:t>Software /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₹38 L upfront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4332"/>
                          </a:solidFill>
                          <a:latin typeface="Inter Tight"/>
                        </a:rPr>
                        <a:t>0 — already built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412"/>
                          </a:solidFill>
                          <a:latin typeface="Inter Tight"/>
                        </a:rPr>
                        <a:t>Implementation + customisation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₹9 L (delays likely)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₹4 L · 8 weeks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412"/>
                          </a:solidFill>
                          <a:latin typeface="Inter Tight"/>
                        </a:rPr>
                        <a:t>Data migration (existing records)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₹3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₹2 L · scripts ready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412"/>
                          </a:solidFill>
                          <a:latin typeface="Inter Tight"/>
                        </a:rPr>
                        <a:t>Training (300 staff)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₹6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4332"/>
                          </a:solidFill>
                          <a:latin typeface="Inter Tight"/>
                        </a:rPr>
                        <a:t>included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412"/>
                          </a:solidFill>
                          <a:latin typeface="Inter Tight"/>
                        </a:rPr>
                        <a:t>Hardware engineer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₹0 (we hire separately)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4332"/>
                          </a:solidFill>
                          <a:latin typeface="Inter Tight"/>
                        </a:rPr>
                        <a:t>on staff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412"/>
                          </a:solidFill>
                          <a:latin typeface="Inter Tight"/>
                        </a:rPr>
                        <a:t>Hardware (server + DR replica)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412"/>
                          </a:solidFill>
                          <a:latin typeface="Inter Tight"/>
                        </a:rPr>
                        <a:t>Pre-launch operations setup (4 months)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—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₹8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 Total to launch day 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₹70 L (typical)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B8924A"/>
                          </a:solidFill>
                          <a:latin typeface="Inter Tight"/>
                        </a:rPr>
                        <a:t>₹28 L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36576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Pre-launch saving alone: </a:t>
            </a:r>
            <a:r>
              <a:rPr sz="1300" b="1" i="0">
                <a:solidFill>
                  <a:srgbClr val="B8924A"/>
                </a:solidFill>
                <a:latin typeface="Fraunces"/>
              </a:rPr>
              <a:t>~₹42 L. </a:t>
            </a:r>
            <a:r>
              <a:rPr sz="1100" b="1" i="0">
                <a:solidFill>
                  <a:srgbClr val="1F4332"/>
                </a:solidFill>
                <a:latin typeface="Inter Tight"/>
              </a:rPr>
              <a:t>And we own the platform from day one — vendor lock-in starts at ₹0.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 THE BUILD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3 engineers + me. </a:t>
            </a:r>
            <a:r>
              <a:rPr sz="3200" b="0" i="1">
                <a:solidFill>
                  <a:srgbClr val="1F4332"/>
                </a:solidFill>
                <a:latin typeface="Fraunces"/>
              </a:rPr>
              <a:t>That's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848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Lead Engineer / Architect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3055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(me) — Rust + React + healthcare interop. 18 mo invested.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7919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Senior Backend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2491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Rust + Postgres + integrations. NHCX, ABDM, FHIR maintenance.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0040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Senior Frontend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1927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React + Mantine + clinical UX. OPD/IPD/Pharmacy/Lab screens.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9476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Hardware 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1363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Already on staff — handles servers, networking, NABH IT audit.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72000"/>
            <a:ext cx="5486400" cy="1874519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091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WHY A SMALL TEAM IS ENOUGH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8348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332"/>
                </a:solidFill>
                <a:latin typeface="Fraunces"/>
              </a:rPr>
              <a:t>80% already built · just maintain + extend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949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Two senior engineers handle ongoing development.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692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Hardware engineer already on staff — no double hire.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436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Compliance + module updates ship in-team, not vendor-paced.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572000"/>
            <a:ext cx="5486400" cy="1874519"/>
          </a:xfrm>
          <a:prstGeom prst="roundRect">
            <a:avLst>
              <a:gd name="adj" fmla="val 4000"/>
            </a:avLst>
          </a:prstGeom>
          <a:solidFill>
            <a:srgbClr val="1F4332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7091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4EDE9"/>
                </a:solidFill>
                <a:latin typeface="JetBrains Mono"/>
              </a:rPr>
              <a:t>THE BIGGER PAYOFF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02920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Fraunces"/>
              </a:rPr>
              <a:t>We build a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44068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1">
                <a:solidFill>
                  <a:srgbClr val="B8924A"/>
                </a:solidFill>
                <a:latin typeface="Fraunces"/>
              </a:rPr>
              <a:t>that can challenge anything.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60807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E4EDE9"/>
                </a:solidFill>
                <a:latin typeface="Inter Tight"/>
              </a:rPr>
              <a:t>Tomorrow's AI · analytics · device telemetry · whatever ships next.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TECH CHOICES · WHY CLOUD + OPS COST STAYS SMALL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Rust isn't a fashion choice.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It's a cost choice.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Stack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Memory / req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Throughput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Servers (200-bed)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Cloud / mo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PHP / Laravel (legacy HMS)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200 MB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200 req/s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4 × 8 vCPU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₹40 K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Java / Spring (Aosta-class)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2–4 GB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1.5 K req/s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 × 8 vCPU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₹35 K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Node.js / NestJS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300 MB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 K req/s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 × 4 vCPU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₹18 K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Python / Django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150 MB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800 req/s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3 × 4 vCPU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₹22 K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Elixir / Phoenix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100 MB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8 K req/s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 × 4 vCPU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₹12 K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Rust / Axum (us)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80 MB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12 K req/s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1 × 4 vCPU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₹8 K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43484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262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332"/>
                </a:solidFill>
                <a:latin typeface="Fraunces"/>
              </a:rPr>
              <a:t>vs Java / Spring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924A"/>
                </a:solidFill>
                <a:latin typeface="Inter Tight"/>
              </a:rPr>
              <a:t>5× lower memory · no GC pauses · single 8 MB binary · no JVM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235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Java keeps 2–4 GB hot per process. Rust runs on a Raspberry 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43484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5262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332"/>
                </a:solidFill>
                <a:latin typeface="Fraunces"/>
              </a:rPr>
              <a:t>vs Elixir /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93776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924A"/>
                </a:solidFill>
                <a:latin typeface="Inter Tight"/>
              </a:rPr>
              <a:t>Compile-time safety · zero runtime type errors · 2× faster than Elixir on DB-heavy 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6235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Hospital correctness &gt; BEAM fault tolerance. Bugs caught before they hit patients.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43484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45262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332"/>
                </a:solidFill>
                <a:latin typeface="Fraunces"/>
              </a:rPr>
              <a:t>vs Python / PHP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93776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924A"/>
                </a:solidFill>
                <a:latin typeface="Inter Tight"/>
              </a:rPr>
              <a:t>50–100× throughput · true parallelism · no monkey-patching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6235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Most legacy HMS (Aosta, Suvarna) are PHP/.NET. They will not scale to ABDM.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6400800"/>
            <a:ext cx="11155680" cy="164592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CRDT · WHY OUR APP KEEPS WORKING WHEN WIFI DOESN'T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Drop the WiFi.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Keep the patient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A706D"/>
                </a:solidFill>
                <a:latin typeface="Inter Tight"/>
              </a:rPr>
              <a:t>CRDT (Conflict-free Replicated Data Types) — the math behind Google Docs, Notion, Figma. We use it for clinical data sync.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5486400" cy="260604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Fraunces"/>
              </a:rPr>
              <a:t>Vendor system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Nurse charting → WiFi drops → notes lost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5584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Two devices on same patient → last save wins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39896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OPD camp in village → no internet → can't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23944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Rural sub-centre → manual paper, re-entry later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0799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Doctor on rounds → tablet won't sync, frustrated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77440"/>
            <a:ext cx="5486400" cy="260604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51460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4332"/>
                </a:solidFill>
                <a:latin typeface="Fraunces"/>
              </a:rPr>
              <a:t>With CRDT (us)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718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WiFi drops → keep typing, syncs when 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5584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Both devices edit → merges automatically, no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739896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Camps run fully offline → upload at night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123944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Sub-centres sync on 4G when 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50799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Doctor never sees a 'sync conflict' popup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66360"/>
            <a:ext cx="11155680" cy="132588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8523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BOTTOM-LINE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32120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✓  10–20 min/day saved per nurse on save-and-wait friction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79008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✓  Zero clinical-note loss incidents (vs dozens/year on legacy systems)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25896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✓  Rural camps + sub-centres become viable revenue lines (offline-first)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72784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✓  Lower cloud costs — fewer sync round-trips, fewer DB writes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ROADMAP TO GO-LIVE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F1412"/>
                </a:solidFill>
                <a:latin typeface="Fraunces"/>
              </a:rPr>
              <a:t>Approve in May → </a:t>
            </a:r>
            <a:r>
              <a:rPr sz="2600" b="0" i="1">
                <a:solidFill>
                  <a:srgbClr val="1F4332"/>
                </a:solidFill>
                <a:latin typeface="Fraunces"/>
              </a:rPr>
              <a:t>full hospital live by September.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8483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Jun '26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10312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Hire 2 engineers · server provision · data migration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3347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Jul '26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5176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Pilot · OPD + Pharmacy on 1 branch · 2-week parallel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0896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8211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Aug '26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20040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Add IPD + Lab + Radiology · staff training (300+ users)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3075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Sep '26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74904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Full hospital go-live · ABDM/NHCX activate when registrations approve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7939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Oct '26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29768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Begin Y2 sales prep · first sister-hospital deploy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5488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2803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Q1 '27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84632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DICOM/PACS · GST e-invoice IRN · device telemetry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0352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7667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Q2 '27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39496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Y2 reseller revenue begins · 2 partner hospitals signed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THE STRATEGIC UPSIDE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Sell it to </a:t>
            </a:r>
            <a:r>
              <a:rPr sz="3200" b="0" i="1">
                <a:solidFill>
                  <a:srgbClr val="1F4332"/>
                </a:solidFill>
                <a:latin typeface="Fraunces"/>
              </a:rPr>
              <a:t>peer hospitals.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A706D"/>
                </a:solidFill>
                <a:latin typeface="Inter Tight"/>
              </a:rPr>
              <a:t>~12,000 mid-cap Indian hospitals paying ₹2–5 L/bed today. Alagappa as the seller, not Suvarna's salesman.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286000"/>
          <a:ext cx="5669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Pricing tier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Pricing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Buyer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Branch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₹50K/bed + 15% AMC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Sister hospitals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Regional reseller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₹75K/bed + 18% AMC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TN / South India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White-label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30–40% rev share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Hospital chains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SaaS hosted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₹2,500/bed/month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Small clinics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2286000"/>
          <a:ext cx="53035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Year</a:t>
                      </a:r>
                    </a:p>
                  </a:txBody>
                  <a:tcPr marL="120000" marR="120000" marT="60000" marB="60000">
                    <a:solidFill>
                      <a:srgbClr val="B89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Deployments</a:t>
                      </a:r>
                    </a:p>
                  </a:txBody>
                  <a:tcPr marL="120000" marR="120000" marT="60000" marB="60000">
                    <a:solidFill>
                      <a:srgbClr val="B89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Revenue (conservative)</a:t>
                      </a:r>
                    </a:p>
                  </a:txBody>
                  <a:tcPr marL="120000" marR="120000" marT="60000" marB="60000">
                    <a:solidFill>
                      <a:srgbClr val="B8924A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Y1 (Alagappa internal)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Y2 — first reseller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 cr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Y3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3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₹2.5 cr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Y4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6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₹4.5 cr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Y5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₹7.5 cr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 5-yr cumulative 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~20 hospitals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~₹15.5 cr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166360"/>
            <a:ext cx="11155680" cy="13258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285232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Inter Tight"/>
              </a:rPr>
              <a:t>Why Alagappa wins this market: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605272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✓  Peer-hospital trust beats vendor sales · ✓  Best reference call after 12 months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✓  Tamil-language ready for TN/Pondi/Andhra · ✓  Existing referral network through doctors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Three approvals. </a:t>
            </a:r>
            <a:r>
              <a:rPr sz="3200" b="0" i="1">
                <a:solidFill>
                  <a:srgbClr val="1F4332"/>
                </a:solidFill>
                <a:latin typeface="Fraunces"/>
              </a:rPr>
              <a:t>This week.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103120"/>
            <a:ext cx="640080" cy="640080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4332"/>
                </a:solidFill>
                <a:latin typeface="Fraunces"/>
              </a:rPr>
              <a:t>Approve the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Modest 3-year envelope. Hardware + operations only. Versus ₹50–70 L upfront + AMC forever to a vendor.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017520"/>
            <a:ext cx="640080" cy="640080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175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4332"/>
                </a:solidFill>
                <a:latin typeface="Fraunces"/>
              </a:rPr>
              <a:t>Approve the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747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Hire 2 senior engineers. I lead. We start in June. The team becomes Alagappa's long-term tech capability.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931920"/>
            <a:ext cx="640080" cy="640080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319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4332"/>
                </a:solidFill>
                <a:latin typeface="Fraunces"/>
              </a:rPr>
              <a:t>Approve the timeline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3891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Pilot in July. Full go-live by hospital opening day. First reseller signed by Q2 2027.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49240"/>
            <a:ext cx="11155680" cy="1188720"/>
          </a:xfrm>
          <a:prstGeom prst="roundRect">
            <a:avLst>
              <a:gd name="adj" fmla="val 4000"/>
            </a:avLst>
          </a:prstGeom>
          <a:solidFill>
            <a:srgbClr val="1F4332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486400"/>
            <a:ext cx="106070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Fraunces"/>
              </a:rPr>
              <a:t>Save ₹40 L+ pre-launch.  </a:t>
            </a:r>
            <a:r>
              <a:rPr sz="2200" b="1" i="0">
                <a:solidFill>
                  <a:srgbClr val="B8924A"/>
                </a:solidFill>
                <a:latin typeface="Fraunces"/>
              </a:rPr>
              <a:t>Earn ₹15 cr over 5 yrs.  </a:t>
            </a:r>
            <a:r>
              <a:rPr sz="2200" b="0" i="1">
                <a:solidFill>
                  <a:srgbClr val="FFFFFF"/>
                </a:solidFill>
                <a:latin typeface="Fraunces"/>
              </a:rPr>
              <a:t>Own the platform.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2648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4EDE9"/>
                </a:solidFill>
                <a:latin typeface="JetBrains Mono"/>
              </a:rPr>
              <a:t>[Your name]  ·  [phone]  ·  [email]   ·   live walkthrough on 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