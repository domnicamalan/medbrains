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CHAIRMAN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1412"/>
                </a:solidFill>
                <a:latin typeface="IBM Plex Sans"/>
              </a:rPr>
              <a:t>Alagappa’s next legacy is digital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3E4A44"/>
                </a:solidFill>
                <a:latin typeface="IBM Plex Sans"/>
              </a:rPr>
              <a:t>For 75 years, Alagappa built institutions. The HMS should be owned like the campus, not rented like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trust + continuity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971800"/>
            <a:ext cx="2121408" cy="1170432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D5F22"/>
                </a:solidFill>
                <a:latin typeface="IBM Plex Sans"/>
              </a:rPr>
              <a:t>Hospital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daily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branches + college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9968" y="4407408"/>
            <a:ext cx="5696711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395728"/>
            <a:ext cx="2377440" cy="26060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724912"/>
            <a:ext cx="188366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The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188366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Do not rent the backbone.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22191"/>
            <a:ext cx="18836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Own the system that will carry every patient, bill, medicine and branch.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STRATEGIC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A vendor gives software. It also controls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Every future change becomes either permission from a vendor or a decision Alagappa can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40280"/>
            <a:ext cx="5074920" cy="29992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2103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E123C"/>
                </a:solidFill>
                <a:latin typeface="IBM Plex Sans"/>
              </a:rPr>
              <a:t>Buy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₹50–70L+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Change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95928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latin typeface="IBM Plex Sans"/>
              </a:rPr>
              <a:t>Dependency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240280"/>
            <a:ext cx="5074920" cy="29992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542032"/>
            <a:ext cx="2331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Build in-house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patients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8944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2712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latin typeface="IBM Plex Sans"/>
              </a:rPr>
              <a:t>Institutional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FINANCIAL STEWARDSHIP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The ₹50L quote is not the real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44"/>
                </a:solidFill>
                <a:latin typeface="IBM Plex Sans"/>
              </a:rPr>
              <a:t>The board should compare the full three-year commitment: licence, AMC, hosting,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Large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239572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3472" y="2395727"/>
            <a:ext cx="4608576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54896" y="233172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008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New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303580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3035808"/>
            <a:ext cx="6122822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97180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Low-cost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367588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3472" y="3675887"/>
            <a:ext cx="2073859" cy="21031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361187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IBM Plex Sans"/>
              </a:rPr>
              <a:t>₹63L +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0247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431596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4315968"/>
            <a:ext cx="2699308" cy="210312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425195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~₹82L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349240"/>
            <a:ext cx="9966960" cy="43891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5504688"/>
            <a:ext cx="95646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0F1412"/>
                </a:solidFill>
                <a:latin typeface="IBM Plex Sans"/>
              </a:rPr>
              <a:t>Board point: in-house is not free; it turns spend into a capability Alagappa owns.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OPERATIONAL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Paperless + offline changes hospital economics.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The board benefit is not only software cost: fewer files, fewer counters, fewer PCs, faster camps, and continuity when internet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31720"/>
            <a:ext cx="2788920" cy="1993392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235915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D5F22"/>
                </a:solidFill>
                <a:latin typeface="IBM Plex Sans"/>
              </a:rPr>
              <a:t>Paper-heavy 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267712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files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forms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manual registers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re-entry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3310128"/>
            <a:ext cx="1143000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2331720"/>
            <a:ext cx="2788920" cy="199339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670048"/>
            <a:ext cx="235915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332"/>
                </a:solidFill>
                <a:latin typeface="IBM Plex Sans"/>
              </a:rPr>
              <a:t>Digital hospital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3154680"/>
            <a:ext cx="2267712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patient context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orders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billing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3310128"/>
            <a:ext cx="786383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58784" y="2331720"/>
            <a:ext cx="2633472" cy="199339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670048"/>
            <a:ext cx="21945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332"/>
                </a:solidFill>
                <a:latin typeface="IBM Plex Sans"/>
              </a:rPr>
              <a:t>Offline camps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3154680"/>
            <a:ext cx="2148840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register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consult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dispense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3E4A44"/>
                </a:solidFill>
                <a:latin typeface="IBM Plex Sans"/>
              </a:rPr>
              <a:t>sync later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4809744"/>
            <a:ext cx="2395728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4974336"/>
            <a:ext cx="20665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60–80%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5431536"/>
            <a:ext cx="20665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paper touchpoints reduced after adoption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9584" y="4809744"/>
            <a:ext cx="2395728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4974336"/>
            <a:ext cx="20665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20–30%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5431536"/>
            <a:ext cx="20665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front-desk / record-room load can shift to care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809744"/>
            <a:ext cx="2395728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4974336"/>
            <a:ext cx="20665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B8924A"/>
                </a:solidFill>
                <a:latin typeface="IBM Plex Sans"/>
              </a:rPr>
              <a:t>fewer PCs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5431536"/>
            <a:ext cx="20665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mobile/tablet flows reduce fixed-counter dependency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4809744"/>
            <a:ext cx="20574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4974336"/>
            <a:ext cx="17282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camps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5431536"/>
            <a:ext cx="1728216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work even with weak internet; sync later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CONTROLLED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Launch safely. Then scale confidently.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No big-bang risk: start narrow, fix daily, expand only after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team +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3364992"/>
            <a:ext cx="429767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OPD + pharmacy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32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IPD + diagnostics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September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command room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4956048"/>
            <a:ext cx="10012680" cy="62179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193792"/>
            <a:ext cx="9582912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F1412"/>
                </a:solidFill>
                <a:latin typeface="IBM Plex Sans"/>
              </a:rPr>
              <a:t>Governance: daily issue triage, named first-level support, weekly steering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Say yes to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Approve the path that protects Alagappa’s cost, control and legacy.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12264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2264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Build in-house as primary HMS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514600"/>
            <a:ext cx="2971800" cy="201168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3" y="2788920"/>
            <a:ext cx="502920" cy="502920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D5F22"/>
                </a:solidFill>
                <a:latin typeface="IBM Plex Sans"/>
              </a:rPr>
              <a:t>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2 senior engineers + internal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8903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pilot first, expand after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504688"/>
            <a:ext cx="10515600" cy="530352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87568"/>
            <a:ext cx="100584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Preserve the legacy. Own the platform. Control the future.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Numbers behind the simple TCO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In-house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Licence + AMC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recurring vendor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no licence; team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Cloud / DR / 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contract-specific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hospital L1 still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L1 named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Change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paid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owned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Requirement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Mapped from the SRS.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HMS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pilot-ready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 narrow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TV / kiosk / mobile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finish before broad rollout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 / RPO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upgrade infra 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Medical college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stage after hospital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Vendor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only if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Good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Aosta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scope + dependency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new healthcare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fast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quote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Compliance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for audit/regulatory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NABH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expand indicators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ABDM / NHCX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code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activate after registration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Audit / DPDPA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keep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DICOM / barcode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after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Team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Who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Lead 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Backend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data + integrations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Frontend engineer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staff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adoption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Hardware + L1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floor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Strategic 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Only after core approval is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approve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Branch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marginal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stabilize first 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Peer hospitals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future revenue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12 months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Legacy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reference institution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quality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Paperless and offline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this if asked how the percentages should be 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48840"/>
            <a:ext cx="23317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2240280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1F4332"/>
                </a:solidFill>
                <a:latin typeface="IBM Plex Sans"/>
              </a:rPr>
              <a:t>Claim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7" y="2148840"/>
            <a:ext cx="3977639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5" y="2240280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7" y="2148840"/>
            <a:ext cx="425196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5" y="2240280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F4332"/>
                </a:solidFill>
                <a:latin typeface="IBM Plex Sans"/>
              </a:rPr>
              <a:t>How to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660904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2752344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60–80% paper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7" y="2660904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5" y="2752344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After OPD/IPD forms, orders, billing and registers move digital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7" y="2660904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5" y="2752344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Track pages printed per patient before/after 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172968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" y="3264408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20–30% admin load shift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7" y="3172968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5" y="3264408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Less filing, re-entry, searching, register writing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9167" y="3172968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5" y="3264408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Measure registration + MRD + billing TAT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685032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" y="3776472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Fewer PC dependencies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7" y="3685032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5" y="3776472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More work can happen on tablets/mobile/shared counters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9167" y="3685032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5" y="3776472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Count fixed desktop stations avoided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4197096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5" y="4288536"/>
            <a:ext cx="2203703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Camps/offline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7" y="4197096"/>
            <a:ext cx="39776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5" y="4288536"/>
            <a:ext cx="384962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Camp registration, notes, dispensing can continue without stable internet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7" y="4197096"/>
            <a:ext cx="4251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3175" y="4288536"/>
            <a:ext cx="4123944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30" b="0">
                <a:solidFill>
                  <a:srgbClr val="3E4A44"/>
                </a:solidFill>
                <a:latin typeface="IBM Plex Sans"/>
              </a:rPr>
              <a:t>Run one offline camp drill before 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