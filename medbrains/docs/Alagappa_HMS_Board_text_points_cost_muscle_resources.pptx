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Aptos Mono"/>
              </a:rPr>
              <a:t>DECISION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>
                <a:solidFill>
                  <a:srgbClr val="121714"/>
                </a:solidFill>
                <a:latin typeface="Aptos Display"/>
              </a:rPr>
              <a:t>Approve the in-house HMS path for cost control and capability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E6662"/>
                </a:solidFill>
                <a:latin typeface="Aptos"/>
              </a:rPr>
              <a:t>This is not a software purchase decision. It is a hospital operating-system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064240" cy="3063240"/>
          </a:xfrm>
          <a:prstGeom prst="roundRect">
            <a:avLst>
              <a:gd name="adj" fmla="val 3000"/>
            </a:avLst>
          </a:prstGeom>
          <a:solidFill>
            <a:srgbClr val="E7F0EC"/>
          </a:solidFill>
          <a:ln w="9525">
            <a:solidFill>
              <a:srgbClr val="E3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Aptos Display"/>
              </a:rPr>
              <a:t>The board story in one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9921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714"/>
                </a:solidFill>
                <a:latin typeface="Aptos"/>
              </a:rPr>
              <a:t>Save money by avoiding large upfront licence, AMC, change-request and duplicate-work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13048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13048"/>
            <a:ext cx="9921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714"/>
                </a:solidFill>
                <a:latin typeface="Aptos"/>
              </a:rPr>
              <a:t>Build internal technology muscle so Alagappa can adapt workflows without waiting on vendor roadmaps.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88536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88536"/>
            <a:ext cx="9921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714"/>
                </a:solidFill>
                <a:latin typeface="Aptos"/>
              </a:rPr>
              <a:t>Start safely with OPD + pharmacy pilot, daily defect review and clear go / no-go gates.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64024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64024"/>
            <a:ext cx="9921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714"/>
                </a:solidFill>
                <a:latin typeface="Aptos"/>
              </a:rPr>
              <a:t>Ask for a small focused team, basic infrastructure, doctor/operations champions and board governance.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7A35"/>
                </a:solidFill>
                <a:latin typeface="Aptos"/>
              </a:rPr>
              <a:t>Board line: buy if we must, but build if we want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6539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E6662"/>
                </a:solidFill>
                <a:latin typeface="Aptos Mono"/>
              </a:rPr>
              <a:t>Alagappa Hospital - In-house HMS board decision -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65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E6662"/>
                </a:solidFill>
                <a:latin typeface="Aptos Mono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Aptos Mono"/>
              </a:rPr>
              <a:t>MAIN POINT 1 - COST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>
                <a:solidFill>
                  <a:srgbClr val="121714"/>
                </a:solidFill>
                <a:latin typeface="Aptos Display"/>
              </a:rPr>
              <a:t>The saving is not only licence price. It is recurring operating friction.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E6662"/>
                </a:solidFill>
                <a:latin typeface="Aptos"/>
              </a:rPr>
              <a:t>Vendor quotes show the visible cost. Hospital operations carry the hidden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7F8F6"/>
          </a:solidFill>
          <a:ln w="9525">
            <a:solidFill>
              <a:srgbClr val="E3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4332"/>
                </a:solidFill>
                <a:latin typeface="Aptos Display"/>
              </a:rPr>
              <a:t>Avoid vendor lock-in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No large upfront licence as the default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76472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76472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No AMC escalation for every branch and module.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15384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15384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No quotation cycle for every workflow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54296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54296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No exit cost when the hospital wants its own data and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246888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7F8F6"/>
          </a:solidFill>
          <a:ln w="9525">
            <a:solidFill>
              <a:srgbClr val="E3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2697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4332"/>
                </a:solidFill>
                <a:latin typeface="Aptos Display"/>
              </a:rPr>
              <a:t>Reduce daily operating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33756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337560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Less printing, registers, photocopying and MRD file movement.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776472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776472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Less duplicate entry across OPD, billing, pharmacy, lab and records.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4215384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215384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Fewer fixed counters through tablets, queue displays and shared workstations.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654296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654296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Offline camps keep work moving instead of paper re-entry later.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246888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7F8F6"/>
          </a:solidFill>
          <a:ln w="9525">
            <a:solidFill>
              <a:srgbClr val="E3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2697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4332"/>
                </a:solidFill>
                <a:latin typeface="Aptos Display"/>
              </a:rPr>
              <a:t>Keep future cost under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33756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3337560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New departments and branches reuse the same platform.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3776472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3776472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Compliance changes are in our backlog, not vendor backlog.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4215384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4215384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Integrations like ABDM, NHCX, DICOM and devices stay owned by Alagappa.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4654296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4654296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1714"/>
                </a:solidFill>
                <a:latin typeface="Aptos"/>
              </a:rPr>
              <a:t>Resale or sister-hospital deployment becomes possible later.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E6662"/>
                </a:solidFill>
                <a:latin typeface="Aptos Mono"/>
              </a:rPr>
              <a:t>Alagappa Hospital - In-house HMS board decision - May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65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E6662"/>
                </a:solidFill>
                <a:latin typeface="Aptos Mono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Aptos Mono"/>
              </a:rPr>
              <a:t>MAIN POINT 2 - BUILD HOSPITAL TECHNOLOGY MUSCLE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>
                <a:solidFill>
                  <a:srgbClr val="121714"/>
                </a:solidFill>
                <a:latin typeface="Aptos Display"/>
              </a:rPr>
              <a:t>The software is useful. The internal capability is the real long-term asset.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E6662"/>
                </a:solidFill>
                <a:latin typeface="Aptos"/>
              </a:rPr>
              <a:t>A hospital that can change its own HMS can move faster than a hospital waiting for tickets.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5867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Capability we build</a:t>
                      </a:r>
                    </a:p>
                  </a:txBody>
                  <a:tcPr marL="120000" marR="120000" marT="70000" marB="7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Why it matters to the hospital</a:t>
                      </a:r>
                    </a:p>
                  </a:txBody>
                  <a:tcPr marL="120000" marR="120000" marT="70000" marB="70000">
                    <a:solidFill>
                      <a:srgbClr val="1F4332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714"/>
                          </a:solidFill>
                          <a:latin typeface="Aptos"/>
                        </a:rPr>
                        <a:t>Workflow ownership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714"/>
                          </a:solidFill>
                          <a:latin typeface="Aptos"/>
                        </a:rPr>
                        <a:t>Doctors, nurses, pharmacy and billing get changes from an internal team that understands Alagappa.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714"/>
                          </a:solidFill>
                          <a:latin typeface="Aptos"/>
                        </a:rPr>
                        <a:t>Regulatory response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714"/>
                          </a:solidFill>
                          <a:latin typeface="Aptos"/>
                        </a:rPr>
                        <a:t>NABH, ABDM, NHCX, DPDPA and pharmacy safety changes can be handled without vendor delay.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714"/>
                          </a:solidFill>
                          <a:latin typeface="Aptos"/>
                        </a:rPr>
                        <a:t>Integration confidence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714"/>
                          </a:solidFill>
                          <a:latin typeface="Aptos"/>
                        </a:rPr>
                        <a:t>Lab machines, payment, insurance, WhatsApp, DICOM/PACS and future devices become repeatable work.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714"/>
                          </a:solidFill>
                          <a:latin typeface="Aptos"/>
                        </a:rPr>
                        <a:t>Data advantage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714"/>
                          </a:solidFill>
                          <a:latin typeface="Aptos"/>
                        </a:rPr>
                        <a:t>Management dashboards, audit evidence, clinical quality indicators and branch comparison become possible.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714"/>
                          </a:solidFill>
                          <a:latin typeface="Aptos"/>
                        </a:rPr>
                        <a:t>Future readiness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714"/>
                          </a:solidFill>
                          <a:latin typeface="Aptos"/>
                        </a:rPr>
                        <a:t>AI assistants, clinical decision support, analytics and sister-hospital rollout become internal muscle, not outsourced magic.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7A35"/>
                </a:solidFill>
                <a:latin typeface="Aptos"/>
              </a:rPr>
              <a:t>Board line: this is how Alagappa stops being only a buyer and becomes a builder.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E6662"/>
                </a:solidFill>
                <a:latin typeface="Aptos Mono"/>
              </a:rPr>
              <a:t>Alagappa Hospital - In-house HMS board decision -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E6662"/>
                </a:solidFill>
                <a:latin typeface="Aptos Mono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Aptos Mono"/>
              </a:rPr>
              <a:t>MAIN POINT 3 - RESOURCES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>
                <a:solidFill>
                  <a:srgbClr val="121714"/>
                </a:solidFill>
                <a:latin typeface="Aptos Display"/>
              </a:rPr>
              <a:t>The ask is focused: people, infrastructure, governance and pilot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E6662"/>
                </a:solidFill>
                <a:latin typeface="Aptos"/>
              </a:rPr>
              <a:t>We do not need a big IT department before proving the pilot.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488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572000"/>
                <a:gridCol w="457200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Resource</a:t>
                      </a:r>
                    </a:p>
                  </a:txBody>
                  <a:tcPr marL="120000" marR="120000" marT="70000" marB="7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What we need now</a:t>
                      </a:r>
                    </a:p>
                  </a:txBody>
                  <a:tcPr marL="120000" marR="120000" marT="70000" marB="7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Why</a:t>
                      </a:r>
                    </a:p>
                  </a:txBody>
                  <a:tcPr marL="120000" marR="120000" marT="70000" marB="70000">
                    <a:solidFill>
                      <a:srgbClr val="1F4332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714"/>
                          </a:solidFill>
                          <a:latin typeface="Aptos"/>
                        </a:rPr>
                        <a:t>People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Lead architect + 2 senior engineers + existing hardware support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Build, secure, deploy and maintain the core system.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714"/>
                          </a:solidFill>
                          <a:latin typeface="Aptos"/>
                        </a:rPr>
                        <a:t>Hospital champions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One OPD doctor, one pharmacist, one billing/MRD owner, one admin owner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Validate real workflow daily and stop assumptions early.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714"/>
                          </a:solidFill>
                          <a:latin typeface="Aptos"/>
                        </a:rPr>
                        <a:t>Infrastructure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Cloud server, database backups, VPN/admin access, local backup storage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Run production safely with recovery and controlled access.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714"/>
                          </a:solidFill>
                          <a:latin typeface="Aptos"/>
                        </a:rPr>
                        <a:t>Devices for pilot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A few tablets/shared PCs, queue display, barcode/label printer where needed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Prove paperless OPD + pharmacy without buying hardware for all departments.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714"/>
                          </a:solidFill>
                          <a:latin typeface="Aptos"/>
                        </a:rPr>
                        <a:t>Governance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Daily pilot review + weekly board/management checkpoint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Keep scope controlled and expand only after evidence.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714"/>
                          </a:solidFill>
                          <a:latin typeface="Aptos"/>
                        </a:rPr>
                        <a:t>Budget envelope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Salary + infrastructure + pilot devices + contingency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21714"/>
                          </a:solidFill>
                          <a:latin typeface="Aptos"/>
                        </a:rPr>
                        <a:t>Spend in stages; avoid large vendor lock-in before proof.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56539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E6662"/>
                </a:solidFill>
                <a:latin typeface="Aptos Mono"/>
              </a:rPr>
              <a:t>Alagappa Hospital - In-house HMS board decision -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E6662"/>
                </a:solidFill>
                <a:latin typeface="Aptos Mono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Aptos Mono"/>
              </a:rPr>
              <a:t>MAKE THE DECISION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>
                <a:solidFill>
                  <a:srgbClr val="121714"/>
                </a:solidFill>
                <a:latin typeface="Aptos Display"/>
              </a:rPr>
              <a:t>Pilot first. Expand only after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E6662"/>
                </a:solidFill>
                <a:latin typeface="Aptos"/>
              </a:rPr>
              <a:t>This reduces the risk of building and also improves our vendor negotiation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7F8F6"/>
          </a:solidFill>
          <a:ln w="9525">
            <a:solidFill>
              <a:srgbClr val="E3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332"/>
                </a:solidFill>
                <a:latin typeface="Aptos Mono"/>
              </a:rPr>
              <a:t>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35000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Aptos Display"/>
              </a:rPr>
              <a:t>Team + infrastructure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2386584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21714"/>
                </a:solidFill>
                <a:latin typeface="Aptos"/>
              </a:rPr>
              <a:t>deployment, backups, access control, data migration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7F8F6"/>
          </a:solidFill>
          <a:ln w="9525">
            <a:solidFill>
              <a:srgbClr val="E3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55264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332"/>
                </a:solidFill>
                <a:latin typeface="Aptos Mono"/>
              </a:rPr>
              <a:t>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21868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Aptos Display"/>
              </a:rPr>
              <a:t>OPD + pharmacy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3255264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21714"/>
                </a:solidFill>
                <a:latin typeface="Aptos"/>
              </a:rPr>
              <a:t>parallel run, live defects, doctor/pharmacy feedback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7F8F6"/>
          </a:solidFill>
          <a:ln w="9525">
            <a:solidFill>
              <a:srgbClr val="E3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23943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332"/>
                </a:solidFill>
                <a:latin typeface="Aptos Mono"/>
              </a:rPr>
              <a:t>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087367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Aptos Display"/>
              </a:rPr>
              <a:t>Stability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123943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21714"/>
                </a:solidFill>
                <a:latin typeface="Aptos"/>
              </a:rPr>
              <a:t>add IPD/lab/radiology only after OPD + pharmacy are stable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7F8F6"/>
          </a:solidFill>
          <a:ln w="9525">
            <a:solidFill>
              <a:srgbClr val="E3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92624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332"/>
                </a:solidFill>
                <a:latin typeface="Aptos Mono"/>
              </a:rPr>
              <a:t>September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9560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Aptos Display"/>
              </a:rPr>
              <a:t>Go-live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992624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21714"/>
                </a:solidFill>
                <a:latin typeface="Aptos"/>
              </a:rPr>
              <a:t>go live, extend pilot, or use vendor fallback with stronger negotiation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7A35"/>
                </a:solidFill>
                <a:latin typeface="Aptos"/>
              </a:rPr>
              <a:t>The board is approving a controlled path, not blind faith.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6539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E6662"/>
                </a:solidFill>
                <a:latin typeface="Aptos Mono"/>
              </a:rPr>
              <a:t>Alagappa Hospital - In-house HMS board decision -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E6662"/>
                </a:solidFill>
                <a:latin typeface="Aptos Mono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Aptos Mono"/>
              </a:rPr>
              <a:t>WHAT WE SHOULD NOT MAKE THE SLIDE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>
                <a:solidFill>
                  <a:srgbClr val="121714"/>
                </a:solidFill>
                <a:latin typeface="Aptos Display"/>
              </a:rPr>
              <a:t>Avoid architecture diagrams in the main board discussion.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E6662"/>
                </a:solidFill>
                <a:latin typeface="Aptos"/>
              </a:rPr>
              <a:t>Keep technical proof in backup. The board needs decision clarity.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40280"/>
          <a:ext cx="110642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76072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Do not lead with</a:t>
                      </a:r>
                    </a:p>
                  </a:txBody>
                  <a:tcPr marL="120000" marR="120000" marT="70000" marB="7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Lead with instead</a:t>
                      </a:r>
                    </a:p>
                  </a:txBody>
                  <a:tcPr marL="120000" marR="120000" marT="70000" marB="70000">
                    <a:solidFill>
                      <a:srgbClr val="1F4332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714"/>
                          </a:solidFill>
                          <a:latin typeface="Aptos"/>
                        </a:rPr>
                        <a:t>CRDT / WASM / Rust internals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714"/>
                          </a:solidFill>
                          <a:latin typeface="Aptos"/>
                        </a:rPr>
                        <a:t>Offline camp continuity, data safety and lower cloud cost.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714"/>
                          </a:solidFill>
                          <a:latin typeface="Aptos"/>
                        </a:rPr>
                        <a:t>Architecture boxes and arrows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714"/>
                          </a:solidFill>
                          <a:latin typeface="Aptos"/>
                        </a:rPr>
                        <a:t>Who owns the workflow and who fixes it when doctors need changes.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714"/>
                          </a:solidFill>
                          <a:latin typeface="Aptos"/>
                        </a:rPr>
                        <a:t>Long module lists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714"/>
                          </a:solidFill>
                          <a:latin typeface="Aptos"/>
                        </a:rPr>
                        <a:t>OPD, pharmacy, billing, lab, IPD path to go-live.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714"/>
                          </a:solidFill>
                          <a:latin typeface="Aptos"/>
                        </a:rPr>
                        <a:t>Vendor criticism only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714"/>
                          </a:solidFill>
                          <a:latin typeface="Aptos"/>
                        </a:rPr>
                        <a:t>Cost control, independence and proof-based rollout.</a:t>
                      </a:r>
                    </a:p>
                  </a:txBody>
                  <a:tcPr marL="120000" marR="120000" marT="70000" marB="70000">
                    <a:solidFill>
                      <a:srgbClr val="F7F8F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1714"/>
                          </a:solidFill>
                          <a:latin typeface="Aptos"/>
                        </a:rPr>
                        <a:t>Future AI promise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1714"/>
                          </a:solidFill>
                          <a:latin typeface="Aptos"/>
                        </a:rPr>
                        <a:t>Build the internal data and engineering base that makes AI possible later.</a:t>
                      </a:r>
                    </a:p>
                  </a:txBody>
                  <a:tcPr marL="120000" marR="120000" marT="70000" marB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7A35"/>
                </a:solidFill>
                <a:latin typeface="Aptos"/>
              </a:rPr>
              <a:t>Technical material stays available for Q&amp;A, not as the main persuasion.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E6662"/>
                </a:solidFill>
                <a:latin typeface="Aptos Mono"/>
              </a:rPr>
              <a:t>Alagappa Hospital - In-house HMS board decision -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E6662"/>
                </a:solidFill>
                <a:latin typeface="Aptos Mono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Aptos Mono"/>
              </a:rPr>
              <a:t>BOARD APPROVALS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>
                <a:solidFill>
                  <a:srgbClr val="121714"/>
                </a:solidFill>
                <a:latin typeface="Aptos Display"/>
              </a:rPr>
              <a:t>Three approvals are enough to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E6662"/>
                </a:solidFill>
                <a:latin typeface="Aptos"/>
              </a:rPr>
              <a:t>Each approval has a practical control attached.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240280"/>
            <a:ext cx="566928" cy="56692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22199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4332"/>
                </a:solidFill>
                <a:latin typeface="Aptos Display"/>
              </a:rPr>
              <a:t>Approve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642616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21714"/>
                </a:solidFill>
                <a:latin typeface="Aptos"/>
              </a:rPr>
              <a:t>In-house HMS as primary path. Vendor remains fallback and benchmark.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291840"/>
            <a:ext cx="566928" cy="56692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7355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4332"/>
                </a:solidFill>
                <a:latin typeface="Aptos Display"/>
              </a:rPr>
              <a:t>Approve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694176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21714"/>
                </a:solidFill>
                <a:latin typeface="Aptos"/>
              </a:rPr>
              <a:t>Two senior engineers, infrastructure, pilot devices and hospital champions.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43400"/>
            <a:ext cx="566928" cy="56692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32511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4332"/>
                </a:solidFill>
                <a:latin typeface="Aptos Display"/>
              </a:rPr>
              <a:t>Approve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745736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21714"/>
                </a:solidFill>
                <a:latin typeface="Aptos"/>
              </a:rPr>
              <a:t>OPD + pharmacy first, daily pilot review, weekly management checkpoint.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E7F0EC"/>
          </a:solidFill>
          <a:ln w="9525">
            <a:solidFill>
              <a:srgbClr val="E3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Aptos"/>
              </a:rPr>
              <a:t>Decision sentence: approve a controlled in-house pilot because it saves cost, builds capability and preserves ownership.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6539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E6662"/>
                </a:solidFill>
                <a:latin typeface="Aptos Mono"/>
              </a:rPr>
              <a:t>Alagappa Hospital - In-house HMS board decision -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65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E6662"/>
                </a:solidFill>
                <a:latin typeface="Aptos Mono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Aptos Mono"/>
              </a:rPr>
              <a:t>SPEAKER NOTES / TALK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>
                <a:solidFill>
                  <a:srgbClr val="121714"/>
                </a:solidFill>
                <a:latin typeface="Aptos Display"/>
              </a:rPr>
              <a:t>Use these as the spoken points if the deck must stay short.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E6662"/>
                </a:solidFill>
                <a:latin typeface="Aptos"/>
              </a:rPr>
              <a:t>This is intentionally text-first for a boardroom discussion.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11064240" cy="3977639"/>
          </a:xfrm>
          <a:prstGeom prst="roundRect">
            <a:avLst>
              <a:gd name="adj" fmla="val 3000"/>
            </a:avLst>
          </a:prstGeom>
          <a:solidFill>
            <a:srgbClr val="F7F8F6"/>
          </a:solidFill>
          <a:ln w="9525">
            <a:solidFill>
              <a:srgbClr val="E3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714"/>
                </a:solidFill>
                <a:latin typeface="Aptos"/>
              </a:rPr>
              <a:t>1. We are not saying vendors are useless; we are saying ownership matters for this hospital.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73552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714"/>
                </a:solidFill>
                <a:latin typeface="Aptos"/>
              </a:rPr>
              <a:t>2. The real saving is lower recurring friction: paper, duplicate entry, counters, AMC and change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9624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9624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714"/>
                </a:solidFill>
                <a:latin typeface="Aptos"/>
              </a:rPr>
              <a:t>3. The bigger strategic asset is a team that can keep improving the hospital, not a one-time software purchase.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25696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25696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714"/>
                </a:solidFill>
                <a:latin typeface="Aptos"/>
              </a:rPr>
              <a:t>4. We need a focused pilot team and hospital champions, not a full IT department before proof.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01768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Aptos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01768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714"/>
                </a:solidFill>
                <a:latin typeface="Aptos"/>
              </a:rPr>
              <a:t>5. If the pilot fails gates, the vendor fallback becomes stronger because our requirements and negotiation are clearer.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6539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E6662"/>
                </a:solidFill>
                <a:latin typeface="Aptos Mono"/>
              </a:rPr>
              <a:t>Alagappa Hospital - In-house HMS board decision -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65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E6662"/>
                </a:solidFill>
                <a:latin typeface="Aptos Mono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