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3" r:id="rId14"/>
    <p:sldId id="264" r:id="rId15"/>
    <p:sldId id="265" r:id="rId16"/>
    <p:sldId id="274" r:id="rId25"/>
    <p:sldId id="266" r:id="rId17"/>
    <p:sldId id="268" r:id="rId19"/>
    <p:sldId id="270" r:id="rId21"/>
    <p:sldId id="271" r:id="rId22"/>
    <p:sldId id="273" r:id="rId24"/>
    <p:sldId id="258" r:id="rId9"/>
    <p:sldId id="262" r:id="rId13"/>
    <p:sldId id="267" r:id="rId18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INTERNAL PROPOSAL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Don't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1">
                <a:solidFill>
                  <a:srgbClr val="1F4332"/>
                </a:solidFill>
                <a:latin typeface="Fraunces"/>
              </a:rPr>
              <a:t>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F1412"/>
                </a:solidFill>
                <a:latin typeface="Fraunces"/>
              </a:rPr>
              <a:t>Four HMS quotes on the table. </a:t>
            </a:r>
            <a:r>
              <a:rPr sz="2000" b="1" i="0">
                <a:solidFill>
                  <a:srgbClr val="B8924A"/>
                </a:solidFill>
                <a:latin typeface="Fraunces"/>
              </a:rPr>
              <a:t>Hospital launches in 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A706D"/>
                </a:solidFill>
                <a:latin typeface="Inter Tight"/>
              </a:rPr>
              <a:t>Pay ₹14L–₹70L upfront to a vendor — or spend a fraction this year and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A706D"/>
                </a:solidFill>
                <a:latin typeface="JetBrains Mono"/>
              </a:rPr>
              <a:t>Presented by [Your name]  ·  Lead Engineer / Tech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WE'VE ACTUALLY BEEN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Four vendors. Headline quotes exclude different mixes of hosting, internal support, annual AMC and change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1997 · 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₹90L →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licence negotiated down ₹40L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Mature, but verify whether hosting / infra ops are included in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New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Zoho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early-access 2025 · ~1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₹70L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internal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Brand power, but NEW HMS. Hosting/support scope still needs contract clarity.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Nuvertos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2021 ·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₹20L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hosting /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Started with prescriptions; still maturing. Ops cost does not disappear.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Failed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Unnamed (₹14L vendor)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1-year-old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₹14L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bugs + internal recovery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Low quote was not low risk. Service and support failed in practice.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A706D"/>
                </a:solidFill>
                <a:latin typeface="JetBrains Mono"/>
              </a:rPr>
              <a:t>Sources: vendor proposals Mar–Apr 2026 · Aosta corporate (1997) · Nuvertos Crunchbase (2021) · Zoho Healthcare digest (early-access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ME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I've already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built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80%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998 / 2,566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STACK MASTERY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CLINICAL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44 production modules.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Live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Clinical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OPD — registration, queue, encounters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IPD — admissions, beds, discharge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ICU — flowsheets, ventilator, sepsis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Emergency — triage, MLC, code-blue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OT — scheduling, surgical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MRD — file lifecycle,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Nurse Clinical — vitals, meds,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Bedside Portal — patient +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Lab Phase 1+2+3 — NABL, LOINC, EQAS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Histopath / cytology / molecular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Sample archive · home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Radiology — modalities, worklist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Blood Bank — donor, TTI, crossmatch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Pharmacy 1+2+3 — NDPS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Schedule H/H1/X dispense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Formulary + AWaRe stewardship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Support &amp; specialty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CSSD — sterilisation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Diet &amp; Kitchen — orders, allergens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Quality — NABH indicators, 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Infection Control — surveillance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 Management — registrations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Patient Experience · Care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Chronic Care · Case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Psychiatry · Medical College · 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· 200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Headline price ≠ real cost. Apples-to-apples TCO includes hosting, first-level support and annual vendor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02336">
                <a:tc>
                  <a:txBody>
                    <a:bodyPr wrap="square"/>
                    <a:lstStyle/>
                    <a:p/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Initial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₹50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3-yr AMC (~18%)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₹37.8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₹7.6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Module add-ons / change requests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Hardware / server + DR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Hosting + internal L1 ops (3 yr)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included? verify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1" sz="1100"/>
                        <a:t>  3-year total 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₹1.40 cr*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₹1.86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₹0.91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₹0.63 cr + bugs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3-year total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₹1.40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₹1.68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₹0.73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₹0.45 cr +bugs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*Aosta hosting/managed-ops assumption must be verified in the final contract. In-house cost already includes cloud, DR and internal first-level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Three approvals.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This week.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budget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Use the 3-year TCO view: licence + AMC + hosting + internal support + hardware, not just quote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team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Hire 2 senior engineers. I lead. Assign internal hardware / first-level support before 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in July. Full go-live by hospital opening day. First reseller signed by Q2 2027.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Save ₹40 L+ pre-launch.  </a:t>
            </a:r>
            <a:r>
              <a:rPr sz="2200" b="1" i="0">
                <a:solidFill>
                  <a:srgbClr val="B8924A"/>
                </a:solidFill>
                <a:latin typeface="Fraunces"/>
              </a:rPr>
              <a:t>Earn ₹15 cr over 5 yrs.  </a:t>
            </a:r>
            <a:r>
              <a:rPr sz="2200" b="0" i="1">
                <a:solidFill>
                  <a:srgbClr val="FFFFFF"/>
                </a:solidFill>
                <a:latin typeface="Fraunces"/>
              </a:rPr>
              <a:t>Own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Cut vendor lock-in. Own the platform. Keep the backup slides ready for cost, tech and revenue questions.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17030"/>
                </a:solidFill>
              </a:rPr>
              <a:t>INTERNAL TESTING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1B20"/>
                </a:solidFill>
              </a:rPr>
              <a:t>Testing says the product is viable; go-live risk is workflow polish.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0817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370"/>
                </a:solidFill>
              </a:rPr>
              <a:t>The right response is a controlled pilot, a daily triage loop and clear first-level support, not a vendor reset.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487168" cy="73152"/>
          </a:xfrm>
          <a:prstGeom prst="rect">
            <a:avLst/>
          </a:prstGeom>
          <a:solidFill>
            <a:srgbClr val="2B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B8454"/>
                </a:solidFill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Login, patient search and core OPD/IPD flows are usable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Billing, pharmacy and audit layers are already connected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NABH dashboard and permissions are live enough to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993392"/>
            <a:ext cx="2487168" cy="73152"/>
          </a:xfrm>
          <a:prstGeom prst="rect">
            <a:avLst/>
          </a:prstGeom>
          <a:solidFill>
            <a:srgbClr val="B2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27E2A"/>
                </a:solidFill>
              </a:rPr>
              <a:t>What testers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Need faster search → create for missing patients/items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Module hand-offs need auto-fill, not re-entry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Diet, bedside, IPD and billing screens need cleaner linkage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93392"/>
            <a:ext cx="2487168" cy="73152"/>
          </a:xfrm>
          <a:prstGeom prst="rect">
            <a:avLst/>
          </a:prstGeom>
          <a:solidFill>
            <a:srgbClr val="C1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17030"/>
                </a:solidFill>
              </a:rPr>
              <a:t>Fixes already 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Patient context banner for allergies, MLC, balance and contacts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UI error boundary + clean issue reporting path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Strict SQLx/offline checks and stronger deploy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993392"/>
            <a:ext cx="2487168" cy="73152"/>
          </a:xfrm>
          <a:prstGeom prst="rect">
            <a:avLst/>
          </a:prstGeom>
          <a:solidFill>
            <a:srgbClr val="18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1B20"/>
                </a:solidFill>
              </a:rPr>
              <a:t>Go-live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4-week pilot: OPD + pharmacy first, then IPD/lab/radiology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Daily bug triage with P0/P1 SLA and owner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Named hardware/L1 support before staff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522976"/>
            <a:ext cx="10378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81B20"/>
                </a:solidFill>
              </a:rPr>
              <a:t>Decision point: approve the build, but run it like an enterprise rollout — pilot scope, support owner, issue SLA and weekly steering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Alagappa Hospital  ·  In-House HMS Proposal  · 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60196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