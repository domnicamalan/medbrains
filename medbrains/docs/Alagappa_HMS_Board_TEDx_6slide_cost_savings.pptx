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CHAIRMAN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F1412"/>
                </a:solidFill>
                <a:latin typeface="IBM Plex Sans"/>
              </a:rPr>
              <a:t>Alagappa’s next legacy is digital ownership.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3E4A44"/>
                </a:solidFill>
                <a:latin typeface="IBM Plex Sans"/>
              </a:rPr>
              <a:t>For 75 years, Alagappa built institutions. The HMS should be owned like the campus, not rented like software.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971800"/>
            <a:ext cx="2121408" cy="1170432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3273552"/>
            <a:ext cx="1901952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4332"/>
                </a:solidFill>
                <a:latin typeface="IBM Plex Sans"/>
              </a:rPr>
              <a:t>Legacy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639312"/>
            <a:ext cx="1901952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trust + continuity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2971800"/>
            <a:ext cx="2121408" cy="1170432"/>
          </a:xfrm>
          <a:prstGeom prst="roundRect">
            <a:avLst/>
          </a:prstGeom>
          <a:solidFill>
            <a:srgbClr val="F1E4C8"/>
          </a:solidFill>
          <a:ln w="9525"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3048" y="3273552"/>
            <a:ext cx="1901952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7D5F22"/>
                </a:solidFill>
                <a:latin typeface="IBM Plex Sans"/>
              </a:rPr>
              <a:t>Hospital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3639312"/>
            <a:ext cx="1901952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daily operations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971800"/>
            <a:ext cx="2121408" cy="1170432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3273552"/>
            <a:ext cx="1901952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4332"/>
                </a:solidFill>
                <a:latin typeface="IBM Plex Sans"/>
              </a:rPr>
              <a:t>Future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3639312"/>
            <a:ext cx="1901952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branches + college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29968" y="4407408"/>
            <a:ext cx="5696711" cy="2286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13648" y="2395728"/>
            <a:ext cx="2377440" cy="260604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2724912"/>
            <a:ext cx="188366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F4332"/>
                </a:solidFill>
                <a:latin typeface="IBM Plex Sans"/>
              </a:rPr>
              <a:t>The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246120"/>
            <a:ext cx="1883664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4332"/>
                </a:solidFill>
                <a:latin typeface="IBM Plex Sans"/>
              </a:rPr>
              <a:t>Do not rent the backbone.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3822191"/>
            <a:ext cx="18836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3E4A44"/>
                </a:solidFill>
                <a:latin typeface="IBM Plex Sans"/>
              </a:rPr>
              <a:t>Own the system that will carry every patient, bill, medicine and branch.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STRATEGIC CHOICE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412"/>
                </a:solidFill>
                <a:latin typeface="IBM Plex Sans"/>
              </a:rPr>
              <a:t>A vendor gives software. It also controls tomorrow.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Every future change becomes either permission from a vendor or a decision Alagappa can make.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240280"/>
            <a:ext cx="5074920" cy="2999232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542032"/>
            <a:ext cx="21031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BE123C"/>
                </a:solidFill>
                <a:latin typeface="IBM Plex Sans"/>
              </a:rPr>
              <a:t>Buy vendor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8992" y="3090672"/>
            <a:ext cx="1325880" cy="64008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3255264"/>
            <a:ext cx="1106424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40" b="1">
                <a:solidFill>
                  <a:srgbClr val="BE123C"/>
                </a:solidFill>
                <a:latin typeface="IBM Plex Sans"/>
              </a:rPr>
              <a:t>Quote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511296"/>
            <a:ext cx="1106424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₹50–70L+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70048" y="3090672"/>
            <a:ext cx="1325880" cy="64008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9776" y="3255264"/>
            <a:ext cx="1106424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40" b="1">
                <a:solidFill>
                  <a:srgbClr val="BE123C"/>
                </a:solidFill>
                <a:latin typeface="IBM Plex Sans"/>
              </a:rPr>
              <a:t>AMC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9776" y="3511296"/>
            <a:ext cx="1106424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every year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61104" y="3090672"/>
            <a:ext cx="1325880" cy="64008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3255264"/>
            <a:ext cx="1106424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40" b="1">
                <a:solidFill>
                  <a:srgbClr val="BE123C"/>
                </a:solidFill>
                <a:latin typeface="IBM Plex Sans"/>
              </a:rPr>
              <a:t>Change request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0832" y="3511296"/>
            <a:ext cx="1106424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every change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04872" y="3419856"/>
            <a:ext cx="265176" cy="2286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95928" y="3419856"/>
            <a:ext cx="265176" cy="2286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4224528"/>
            <a:ext cx="429768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latin typeface="IBM Plex Sans"/>
              </a:rPr>
              <a:t>Dependency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27648" y="2240280"/>
            <a:ext cx="5074920" cy="2999232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2542032"/>
            <a:ext cx="23317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4332"/>
                </a:solidFill>
                <a:latin typeface="IBM Plex Sans"/>
              </a:rPr>
              <a:t>Build in-house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56832" y="3090672"/>
            <a:ext cx="1325880" cy="64008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255264"/>
            <a:ext cx="1106424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40" b="1">
                <a:solidFill>
                  <a:srgbClr val="1F4332"/>
                </a:solidFill>
                <a:latin typeface="IBM Plex Sans"/>
              </a:rPr>
              <a:t>Own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511296"/>
            <a:ext cx="1106424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source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7888" y="3090672"/>
            <a:ext cx="1325880" cy="64008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57615" y="3255264"/>
            <a:ext cx="1106424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40" b="1">
                <a:solidFill>
                  <a:srgbClr val="1F4332"/>
                </a:solidFill>
                <a:latin typeface="IBM Plex Sans"/>
              </a:rPr>
              <a:t>Own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7615" y="3511296"/>
            <a:ext cx="1106424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patients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38944" y="3090672"/>
            <a:ext cx="1325880" cy="64008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8672" y="3255264"/>
            <a:ext cx="1106424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40" b="1">
                <a:solidFill>
                  <a:srgbClr val="1F4332"/>
                </a:solidFill>
                <a:latin typeface="IBM Plex Sans"/>
              </a:rPr>
              <a:t>Own roadmap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48672" y="3511296"/>
            <a:ext cx="1106424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changes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82712" y="3419856"/>
            <a:ext cx="265175" cy="2286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73768" y="3419856"/>
            <a:ext cx="265175" cy="2286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6832" y="4224528"/>
            <a:ext cx="429768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latin typeface="IBM Plex Sans"/>
              </a:rPr>
              <a:t>Institutional capability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FINANCIAL STEWARDSHIP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412"/>
                </a:solidFill>
                <a:latin typeface="IBM Plex Sans"/>
              </a:rPr>
              <a:t>The ₹50L quote is not the real cost.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E4A44"/>
                </a:solidFill>
                <a:latin typeface="IBM Plex Sans"/>
              </a:rPr>
              <a:t>The board should compare the full three-year commitment: licence, AMC, hosting, support, training and change requests.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50008"/>
            <a:ext cx="164592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E4A44"/>
                </a:solidFill>
                <a:latin typeface="IBM Plex Sans"/>
              </a:rPr>
              <a:t>Large vendor</a:t>
            </a:r>
          </a:p>
        </p:txBody>
      </p:sp>
      <p:sp>
        <p:nvSpPr>
          <p:cNvPr id="9" name="Rectangle 8"/>
          <p:cNvSpPr/>
          <p:nvPr/>
        </p:nvSpPr>
        <p:spPr>
          <a:xfrm>
            <a:off x="2633472" y="2395727"/>
            <a:ext cx="6583680" cy="210312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33472" y="2395727"/>
            <a:ext cx="4608576" cy="210312"/>
          </a:xfrm>
          <a:prstGeom prst="rect">
            <a:avLst/>
          </a:prstGeom>
          <a:solidFill>
            <a:srgbClr val="8A9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54896" y="2331720"/>
            <a:ext cx="105156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8A938F"/>
                </a:solidFill>
                <a:latin typeface="IBM Plex Sans"/>
              </a:rPr>
              <a:t>~₹1.4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90088"/>
            <a:ext cx="164592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E4A44"/>
                </a:solidFill>
                <a:latin typeface="IBM Plex Sans"/>
              </a:rPr>
              <a:t>New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33472" y="3035808"/>
            <a:ext cx="6583680" cy="210312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33472" y="3035808"/>
            <a:ext cx="6122822" cy="210312"/>
          </a:xfrm>
          <a:prstGeom prst="rect">
            <a:avLst/>
          </a:prstGeom>
          <a:solidFill>
            <a:srgbClr val="8A9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54896" y="2971800"/>
            <a:ext cx="105156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8A938F"/>
                </a:solidFill>
                <a:latin typeface="IBM Plex Sans"/>
              </a:rPr>
              <a:t>~₹1.86 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30168"/>
            <a:ext cx="164592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E4A44"/>
                </a:solidFill>
                <a:latin typeface="IBM Plex Sans"/>
              </a:rPr>
              <a:t>Low-cost vendor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33472" y="3675887"/>
            <a:ext cx="6583680" cy="210312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33472" y="3675887"/>
            <a:ext cx="2073859" cy="210312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54896" y="3611879"/>
            <a:ext cx="105156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BE123C"/>
                </a:solidFill>
                <a:latin typeface="IBM Plex Sans"/>
              </a:rPr>
              <a:t>₹63L +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70247"/>
            <a:ext cx="164592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E4A44"/>
                </a:solidFill>
                <a:latin typeface="IBM Plex Sans"/>
              </a:rPr>
              <a:t>In-house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33472" y="4315968"/>
            <a:ext cx="6583680" cy="210312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33472" y="4315968"/>
            <a:ext cx="2699308" cy="210312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54896" y="4251959"/>
            <a:ext cx="105156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4332"/>
                </a:solidFill>
                <a:latin typeface="IBM Plex Sans"/>
              </a:rPr>
              <a:t>~₹82L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5349240"/>
            <a:ext cx="9966960" cy="438912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5" y="5504688"/>
            <a:ext cx="9564624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40" b="1">
                <a:solidFill>
                  <a:srgbClr val="0F1412"/>
                </a:solidFill>
                <a:latin typeface="IBM Plex Sans"/>
              </a:rPr>
              <a:t>Board point: in-house is not free; it turns spend into a capability Alagappa owns.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COST SAVINGS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412"/>
                </a:solidFill>
                <a:latin typeface="IBM Plex Sans"/>
              </a:rPr>
              <a:t>Paperless + offline saves money every 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Savings come from fewer paper touchpoints, less re-entry, fewer fixed counters/PCs, and camps that keep working without internet.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331720"/>
            <a:ext cx="2743200" cy="1508760"/>
          </a:xfrm>
          <a:prstGeom prst="roundRect">
            <a:avLst/>
          </a:prstGeom>
          <a:solidFill>
            <a:srgbClr val="F1E4C8"/>
          </a:solidFill>
          <a:ln w="9525">
            <a:solidFill>
              <a:srgbClr val="7D5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660904"/>
            <a:ext cx="2414016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7D5F22"/>
                </a:solidFill>
                <a:latin typeface="IBM Plex Sans"/>
              </a:rPr>
              <a:t>Paper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3035808"/>
            <a:ext cx="2414016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3E4A44"/>
                </a:solidFill>
                <a:latin typeface="IBM Plex Sans"/>
              </a:rPr>
              <a:t>printing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3E4A44"/>
                </a:solidFill>
                <a:latin typeface="IBM Plex Sans"/>
              </a:rPr>
              <a:t>forms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3E4A44"/>
                </a:solidFill>
                <a:latin typeface="IBM Plex Sans"/>
              </a:rPr>
              <a:t>storage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3081528"/>
            <a:ext cx="521208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2331720"/>
            <a:ext cx="2743200" cy="150876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2660904"/>
            <a:ext cx="2414016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4332"/>
                </a:solidFill>
                <a:latin typeface="IBM Plex Sans"/>
              </a:rPr>
              <a:t>Digital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3035808"/>
            <a:ext cx="2414016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3E4A44"/>
                </a:solidFill>
                <a:latin typeface="IBM Plex Sans"/>
              </a:rPr>
              <a:t>one record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3E4A44"/>
                </a:solidFill>
                <a:latin typeface="IBM Plex Sans"/>
              </a:rPr>
              <a:t>one bill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3E4A44"/>
                </a:solidFill>
                <a:latin typeface="IBM Plex Sans"/>
              </a:rPr>
              <a:t>one audit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3081528"/>
            <a:ext cx="521208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18119" y="2331720"/>
            <a:ext cx="2743200" cy="150876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82711" y="2660904"/>
            <a:ext cx="2414016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4332"/>
                </a:solidFill>
                <a:latin typeface="IBM Plex Sans"/>
              </a:rPr>
              <a:t>Lower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2711" y="3035808"/>
            <a:ext cx="2414016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3E4A44"/>
                </a:solidFill>
                <a:latin typeface="IBM Plex Sans"/>
              </a:rPr>
              <a:t>less admin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3E4A44"/>
                </a:solidFill>
                <a:latin typeface="IBM Plex Sans"/>
              </a:rPr>
              <a:t>fewer counters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3E4A44"/>
                </a:solidFill>
                <a:latin typeface="IBM Plex Sans"/>
              </a:rPr>
              <a:t>faster camps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590288"/>
            <a:ext cx="242316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4754879"/>
            <a:ext cx="21488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F4332"/>
                </a:solidFill>
                <a:latin typeface="IBM Plex Sans"/>
              </a:rPr>
              <a:t>60–80%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193792"/>
            <a:ext cx="214884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40" b="0">
                <a:solidFill>
                  <a:srgbClr val="8A938F"/>
                </a:solidFill>
                <a:latin typeface="IBM Plex Sans"/>
              </a:rPr>
              <a:t>paper touchpoints can reduce after digital adoption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01568" y="4590288"/>
            <a:ext cx="242316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38728" y="4754879"/>
            <a:ext cx="21488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F4332"/>
                </a:solidFill>
                <a:latin typeface="IBM Plex Sans"/>
              </a:rPr>
              <a:t>20–30%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8728" y="5193792"/>
            <a:ext cx="214884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40" b="0">
                <a:solidFill>
                  <a:srgbClr val="8A938F"/>
                </a:solidFill>
                <a:latin typeface="IBM Plex Sans"/>
              </a:rPr>
              <a:t>admin effort can move from re-entry to service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53328" y="4590288"/>
            <a:ext cx="242316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0488" y="4754879"/>
            <a:ext cx="21488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7D5F22"/>
                </a:solidFill>
                <a:latin typeface="IBM Plex Sans"/>
              </a:rPr>
              <a:t>fewer PCs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5193792"/>
            <a:ext cx="214884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40" b="0">
                <a:solidFill>
                  <a:srgbClr val="8A938F"/>
                </a:solidFill>
                <a:latin typeface="IBM Plex Sans"/>
              </a:rPr>
              <a:t>tablet/mobile/shared-counter flows reduce fixed-station need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05088" y="4590288"/>
            <a:ext cx="242316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42248" y="4754879"/>
            <a:ext cx="21488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F4332"/>
                </a:solidFill>
                <a:latin typeface="IBM Plex Sans"/>
              </a:rPr>
              <a:t>camp revenue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42248" y="5193792"/>
            <a:ext cx="214884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40" b="0">
                <a:solidFill>
                  <a:srgbClr val="8A938F"/>
                </a:solidFill>
                <a:latin typeface="IBM Plex Sans"/>
              </a:rPr>
              <a:t>offline camps continue registration, consults, dispensing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9536" y="5806440"/>
            <a:ext cx="10287000" cy="329184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916168"/>
            <a:ext cx="998524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19" b="1">
                <a:solidFill>
                  <a:srgbClr val="0F1412"/>
                </a:solidFill>
                <a:latin typeface="IBM Plex Sans"/>
              </a:rPr>
              <a:t>Meaning: this reduces operating cost and protects revenue when paper, counters, PCs or internet become bottlenecks.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CONTROLLED ROLLOUT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412"/>
                </a:solidFill>
                <a:latin typeface="IBM Plex Sans"/>
              </a:rPr>
              <a:t>Launch safely. Then scale confidently.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No big-bang risk: start narrow, fix daily, expand only after proof.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743200"/>
            <a:ext cx="214884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944368"/>
            <a:ext cx="178308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B8924A"/>
                </a:solidFill>
                <a:latin typeface="IBM Plex Sans"/>
              </a:rPr>
              <a:t>June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36976"/>
            <a:ext cx="178308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F4332"/>
                </a:solidFill>
                <a:latin typeface="IBM Plex Sans"/>
              </a:rPr>
              <a:t>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11880"/>
            <a:ext cx="178308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8A938F"/>
                </a:solidFill>
                <a:latin typeface="IBM Plex Sans"/>
              </a:rPr>
              <a:t>team + support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0088" y="3364992"/>
            <a:ext cx="429767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84448" y="2743200"/>
            <a:ext cx="214884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2944368"/>
            <a:ext cx="178308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B8924A"/>
                </a:solidFill>
                <a:latin typeface="IBM Plex Sans"/>
              </a:rPr>
              <a:t>July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236976"/>
            <a:ext cx="178308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F4332"/>
                </a:solidFill>
                <a:latin typeface="IBM Plex Sans"/>
              </a:rPr>
              <a:t>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611880"/>
            <a:ext cx="178308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8A938F"/>
                </a:solidFill>
                <a:latin typeface="IBM Plex Sans"/>
              </a:rPr>
              <a:t>OPD + pharmacy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33288" y="3364992"/>
            <a:ext cx="429768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7648" y="2743200"/>
            <a:ext cx="214884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944368"/>
            <a:ext cx="178308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B8924A"/>
                </a:solidFill>
                <a:latin typeface="IBM Plex Sans"/>
              </a:rPr>
              <a:t>August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236976"/>
            <a:ext cx="178308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F4332"/>
                </a:solidFill>
                <a:latin typeface="IBM Plex Sans"/>
              </a:rPr>
              <a:t>expand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611880"/>
            <a:ext cx="178308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8A938F"/>
                </a:solidFill>
                <a:latin typeface="IBM Plex Sans"/>
              </a:rPr>
              <a:t>IPD + diagnostics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76488" y="3364992"/>
            <a:ext cx="429768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70848" y="2743200"/>
            <a:ext cx="214884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2944368"/>
            <a:ext cx="178308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B8924A"/>
                </a:solidFill>
                <a:latin typeface="IBM Plex Sans"/>
              </a:rPr>
              <a:t>September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236976"/>
            <a:ext cx="178308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F4332"/>
                </a:solidFill>
                <a:latin typeface="IBM Plex Sans"/>
              </a:rPr>
              <a:t>go-live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611880"/>
            <a:ext cx="178308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8A938F"/>
                </a:solidFill>
                <a:latin typeface="IBM Plex Sans"/>
              </a:rPr>
              <a:t>command room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7552" y="4956048"/>
            <a:ext cx="10012680" cy="621792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193792"/>
            <a:ext cx="9582912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F1412"/>
                </a:solidFill>
                <a:latin typeface="IBM Plex Sans"/>
              </a:rPr>
              <a:t>Governance: daily issue triage, named first-level support, weekly steering review.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F1412"/>
                </a:solidFill>
                <a:latin typeface="IBM Plex Sans"/>
              </a:rPr>
              <a:t>Say yes to ownership.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E4A44"/>
                </a:solidFill>
                <a:latin typeface="IBM Plex Sans"/>
              </a:rPr>
              <a:t>Approve the path that protects Alagappa’s cost, control and legacy.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" y="2514600"/>
            <a:ext cx="2971800" cy="201168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112264" y="2788920"/>
            <a:ext cx="502920" cy="502920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12264" y="2898648"/>
            <a:ext cx="502920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BM Plex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" y="3502152"/>
            <a:ext cx="25146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4332"/>
                </a:solidFill>
                <a:latin typeface="IBM Plex Sans"/>
              </a:rPr>
              <a:t>Direction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3886200"/>
            <a:ext cx="251460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60" b="0">
                <a:solidFill>
                  <a:srgbClr val="3E4A44"/>
                </a:solidFill>
                <a:latin typeface="IBM Plex Sans"/>
              </a:rPr>
              <a:t>Build in-house as primary HMS path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81144" y="2514600"/>
            <a:ext cx="2971800" cy="2011680"/>
          </a:xfrm>
          <a:prstGeom prst="roundRect">
            <a:avLst/>
          </a:prstGeom>
          <a:solidFill>
            <a:srgbClr val="F1E4C8"/>
          </a:solidFill>
          <a:ln w="9525"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15583" y="2788920"/>
            <a:ext cx="502920" cy="502920"/>
          </a:xfrm>
          <a:prstGeom prst="ellipse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5583" y="2898648"/>
            <a:ext cx="502920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BM Plex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9744" y="3502152"/>
            <a:ext cx="25146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7D5F22"/>
                </a:solidFill>
                <a:latin typeface="IBM Plex Sans"/>
              </a:rPr>
              <a:t>Capability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9744" y="3886200"/>
            <a:ext cx="251460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60" b="0">
                <a:solidFill>
                  <a:srgbClr val="3E4A44"/>
                </a:solidFill>
                <a:latin typeface="IBM Plex Sans"/>
              </a:rPr>
              <a:t>2 senior engineers + internal support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84463" y="2514600"/>
            <a:ext cx="2971800" cy="201168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18903" y="2788920"/>
            <a:ext cx="502920" cy="502920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18903" y="2898648"/>
            <a:ext cx="502920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BM Plex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3" y="3502152"/>
            <a:ext cx="25146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4332"/>
                </a:solidFill>
                <a:latin typeface="IBM Plex Sans"/>
              </a:rPr>
              <a:t>Governance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13063" y="3886200"/>
            <a:ext cx="251460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60" b="0">
                <a:solidFill>
                  <a:srgbClr val="3E4A44"/>
                </a:solidFill>
                <a:latin typeface="IBM Plex Sans"/>
              </a:rPr>
              <a:t>pilot first, expand after proof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5504688"/>
            <a:ext cx="10515600" cy="530352"/>
          </a:xfrm>
          <a:prstGeom prst="roundRect">
            <a:avLst/>
          </a:prstGeom>
          <a:solidFill>
            <a:srgbClr val="1F4332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687568"/>
            <a:ext cx="1005840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BM Plex Sans"/>
              </a:rPr>
              <a:t>Preserve the legacy. Own the platform. Control the future.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6 /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F1412"/>
                </a:solidFill>
                <a:latin typeface="IBM Plex Sans"/>
              </a:rPr>
              <a:t>Cost assumptions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Numbers behind the simple TCO slide.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24028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231136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0088" y="2148840"/>
            <a:ext cx="39319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2231136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Vendor path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22008" y="2148840"/>
            <a:ext cx="43891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2231136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In-house path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60904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743200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Licence + AMC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0088" y="2660904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4952" y="2743200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recurring vendor cost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22008" y="2660904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2743200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no licence; team cost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72968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255264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Cloud / DR / hardware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90088" y="3172968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4952" y="3255264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contract-specific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2008" y="3172968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3255264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included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85032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3767328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Support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0088" y="3685032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4952" y="3767328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hospital L1 still needed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22008" y="3685032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6872" y="3767328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internal L1 named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97096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" y="4279392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Change requests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90088" y="4197096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44952" y="4279392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paid queue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22008" y="4197096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76872" y="4279392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owned roadmap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Backup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F1412"/>
                </a:solidFill>
                <a:latin typeface="IBM Plex Sans"/>
              </a:rPr>
              <a:t>Requirement 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Mapped from the SRS.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24028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231136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Area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0088" y="2148840"/>
            <a:ext cx="39319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2231136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22008" y="2148840"/>
            <a:ext cx="43891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2231136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Message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60904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743200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Core HMS journey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0088" y="2660904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4952" y="2743200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pilot-ready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22008" y="2660904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2743200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start narrow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72968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255264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TV / kiosk / mobile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90088" y="3172968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4952" y="3255264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partial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2008" y="3172968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3255264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finish before broad rollout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85032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3767328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HA / RPO target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0088" y="3685032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4952" y="3767328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roadmap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22008" y="3685032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6872" y="3767328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upgrade infra tier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97096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" y="4279392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Medical college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90088" y="4197096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44952" y="4279392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partial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22008" y="4197096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76872" y="4279392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stage after hospital launch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Backup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F1412"/>
                </a:solidFill>
                <a:latin typeface="IBM Plex Sans"/>
              </a:rPr>
              <a:t>Vendor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Use only if asked.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24028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231136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Vendor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0088" y="2148840"/>
            <a:ext cx="39319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2231136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Good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22008" y="2148840"/>
            <a:ext cx="43891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2231136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60904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743200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Aosta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0088" y="2660904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4952" y="2743200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mature HMS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22008" y="2660904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2743200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scope + dependency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72968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255264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Zoho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90088" y="3172968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4952" y="3255264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brand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2008" y="3172968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3255264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new healthcare depth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85032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3767328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Nuvertos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0088" y="3685032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4952" y="3767328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fast team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22008" y="3685032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6872" y="3767328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maturity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97096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" y="4279392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₹14L vendor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90088" y="4197096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44952" y="4279392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low quote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22008" y="4197096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76872" y="4279392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pilot failed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Backup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F1412"/>
                </a:solidFill>
                <a:latin typeface="IBM Plex Sans"/>
              </a:rPr>
              <a:t>Compliance detail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Use for audit/regulatory questions.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24028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231136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0088" y="2148840"/>
            <a:ext cx="39319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2231136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22008" y="2148840"/>
            <a:ext cx="43891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2231136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Next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60904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743200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NABH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0088" y="2660904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4952" y="2743200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started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22008" y="2660904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2743200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expand indicators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72968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255264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ABDM / NHCX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90088" y="3172968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4952" y="3255264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code ready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2008" y="3172968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3255264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activate after registration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85032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3767328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Audit / DPDPA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0088" y="3685032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4952" y="3767328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strong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22008" y="3685032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6872" y="3767328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keep testing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97096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" y="4279392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DICOM / barcode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90088" y="4197096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44952" y="4279392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roadmap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22008" y="4197096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76872" y="4279392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after pilot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Backup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F1412"/>
                </a:solidFill>
                <a:latin typeface="IBM Plex Sans"/>
              </a:rPr>
              <a:t>Team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Who runs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24028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231136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Role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0088" y="2148840"/>
            <a:ext cx="39319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2231136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Purpose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22008" y="2148840"/>
            <a:ext cx="43891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2231136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Why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60904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743200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Lead architect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0088" y="2660904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4952" y="2743200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owner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22008" y="2660904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2743200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accountability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72968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255264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Backend engineer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90088" y="3172968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4952" y="3255264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data + integrations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2008" y="3172968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3255264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stability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85032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3767328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Frontend engineer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0088" y="3685032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4952" y="3767328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staff workflow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22008" y="3685032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6872" y="3767328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adoption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97096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" y="4279392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Hardware + L1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90088" y="4197096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44952" y="4279392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floor support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22008" y="4197096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76872" y="4279392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go-live confidence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Backup 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F1412"/>
                </a:solidFill>
                <a:latin typeface="IBM Plex Sans"/>
              </a:rPr>
              <a:t>Strategic upside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Only after core approval is clear.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24028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231136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Path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0088" y="2148840"/>
            <a:ext cx="39319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2231136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Meaning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22008" y="2148840"/>
            <a:ext cx="43891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2231136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Condition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60904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743200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Internal use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0088" y="2660904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4952" y="2743200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own HMS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22008" y="2660904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2743200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approve now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72968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255264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Branch reuse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90088" y="3172968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4952" y="3255264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low marginal cost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2008" y="3172968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3255264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stabilize first site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85032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3767328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Peer hospitals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0088" y="3685032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4952" y="3767328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future revenue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22008" y="3685032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6872" y="3767328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12 months proof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97096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" y="4279392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Legacy position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90088" y="4197096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44952" y="4279392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reference institution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22008" y="4197096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76872" y="4279392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quality first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Backup 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412"/>
                </a:solidFill>
                <a:latin typeface="IBM Plex Sans"/>
              </a:rPr>
              <a:t>Paperless and offline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Use this if asked how the percentages should be read.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48840"/>
            <a:ext cx="23317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5" y="2240280"/>
            <a:ext cx="2203703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1">
                <a:solidFill>
                  <a:srgbClr val="1F4332"/>
                </a:solidFill>
                <a:latin typeface="IBM Plex Sans"/>
              </a:rPr>
              <a:t>Claim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81527" y="2148840"/>
            <a:ext cx="3977639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45535" y="2240280"/>
            <a:ext cx="3849624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1F4332"/>
                </a:solidFill>
                <a:latin typeface="IBM Plex Sans"/>
              </a:rPr>
              <a:t>Meaning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59167" y="2148840"/>
            <a:ext cx="425196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23175" y="2240280"/>
            <a:ext cx="4123944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1F4332"/>
                </a:solidFill>
                <a:latin typeface="IBM Plex Sans"/>
              </a:rPr>
              <a:t>How to validate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660904"/>
            <a:ext cx="23317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" y="2752344"/>
            <a:ext cx="2203703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3E4A44"/>
                </a:solidFill>
                <a:latin typeface="IBM Plex Sans"/>
              </a:rPr>
              <a:t>60–80% paper reduction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81527" y="2660904"/>
            <a:ext cx="3977639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45535" y="2752344"/>
            <a:ext cx="3849624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30" b="0">
                <a:solidFill>
                  <a:srgbClr val="3E4A44"/>
                </a:solidFill>
                <a:latin typeface="IBM Plex Sans"/>
              </a:rPr>
              <a:t>After OPD/IPD forms, orders, billing and registers move digital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59167" y="2660904"/>
            <a:ext cx="42519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23175" y="2752344"/>
            <a:ext cx="4123944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30" b="0">
                <a:solidFill>
                  <a:srgbClr val="3E4A44"/>
                </a:solidFill>
                <a:latin typeface="IBM Plex Sans"/>
              </a:rPr>
              <a:t>Track pages printed per patient before/after pilot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" y="3172968"/>
            <a:ext cx="23317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5" y="3264408"/>
            <a:ext cx="2203703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3E4A44"/>
                </a:solidFill>
                <a:latin typeface="IBM Plex Sans"/>
              </a:rPr>
              <a:t>20–30% admin load shift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81527" y="3172968"/>
            <a:ext cx="3977639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45535" y="3264408"/>
            <a:ext cx="3849624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30" b="0">
                <a:solidFill>
                  <a:srgbClr val="3E4A44"/>
                </a:solidFill>
                <a:latin typeface="IBM Plex Sans"/>
              </a:rPr>
              <a:t>Less filing, re-entry, searching, register writing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59167" y="3172968"/>
            <a:ext cx="42519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23175" y="3264408"/>
            <a:ext cx="4123944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30" b="0">
                <a:solidFill>
                  <a:srgbClr val="3E4A44"/>
                </a:solidFill>
                <a:latin typeface="IBM Plex Sans"/>
              </a:rPr>
              <a:t>Measure registration + MRD + billing TAT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" y="3685032"/>
            <a:ext cx="23317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5" y="3776472"/>
            <a:ext cx="2203703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3E4A44"/>
                </a:solidFill>
                <a:latin typeface="IBM Plex Sans"/>
              </a:rPr>
              <a:t>Fewer PC dependencies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81527" y="3685032"/>
            <a:ext cx="3977639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45535" y="3776472"/>
            <a:ext cx="3849624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30" b="0">
                <a:solidFill>
                  <a:srgbClr val="3E4A44"/>
                </a:solidFill>
                <a:latin typeface="IBM Plex Sans"/>
              </a:rPr>
              <a:t>More work can happen on tablets/mobile/shared counters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59167" y="3685032"/>
            <a:ext cx="42519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23175" y="3776472"/>
            <a:ext cx="4123944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30" b="0">
                <a:solidFill>
                  <a:srgbClr val="3E4A44"/>
                </a:solidFill>
                <a:latin typeface="IBM Plex Sans"/>
              </a:rPr>
              <a:t>Count fixed desktop stations avoided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8" y="4197096"/>
            <a:ext cx="23317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5" y="4288536"/>
            <a:ext cx="2203703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3E4A44"/>
                </a:solidFill>
                <a:latin typeface="IBM Plex Sans"/>
              </a:rPr>
              <a:t>Camps/offline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81527" y="4197096"/>
            <a:ext cx="3977639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45535" y="4288536"/>
            <a:ext cx="3849624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30" b="0">
                <a:solidFill>
                  <a:srgbClr val="3E4A44"/>
                </a:solidFill>
                <a:latin typeface="IBM Plex Sans"/>
              </a:rPr>
              <a:t>Camp registration, notes, dispensing can continue without stable internet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59167" y="4197096"/>
            <a:ext cx="42519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23175" y="4288536"/>
            <a:ext cx="4123944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30" b="0">
                <a:solidFill>
                  <a:srgbClr val="3E4A44"/>
                </a:solidFill>
                <a:latin typeface="IBM Plex Sans"/>
              </a:rPr>
              <a:t>Run one offline camp drill before launch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Backup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F1412"/>
                </a:solidFill>
                <a:latin typeface="IBM Plex Sans"/>
              </a:rPr>
              <a:t>Paperless/offline cost-saving assumptions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Use this if asked how paperless/offline savings should be validated.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