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  <p:sldId id="276" r:id="rId27"/>
    <p:sldId id="277" r:id="rId28"/>
    <p:sldId id="278" r:id="rId29"/>
    <p:sldId id="279" r:id="rId30"/>
    <p:sldId id="280" r:id="rId31"/>
    <p:sldId id="258" r:id="rId9"/>
    <p:sldId id="267" r:id="rId18"/>
    <p:sldId id="261" r:id="rId12"/>
    <p:sldId id="259" r:id="rId10"/>
    <p:sldId id="260" r:id="rId11"/>
    <p:sldId id="268" r:id="rId19"/>
    <p:sldId id="271" r:id="rId22"/>
    <p:sldId id="269" r:id="rId20"/>
    <p:sldId id="262" r:id="rId13"/>
    <p:sldId id="272" r:id="rId23"/>
    <p:sldId id="263" r:id="rId14"/>
    <p:sldId id="265" r:id="rId16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21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22.xml"/><Relationship Id="rId14" Type="http://schemas.openxmlformats.org/officeDocument/2006/relationships/slide" Target="slides/slide16.xml"/><Relationship Id="rId16" Type="http://schemas.openxmlformats.org/officeDocument/2006/relationships/slide" Target="slides/slide17.xml"/><Relationship Id="rId18" Type="http://schemas.openxmlformats.org/officeDocument/2006/relationships/slide" Target="slides/slide23.xml"/><Relationship Id="rId19" Type="http://schemas.openxmlformats.org/officeDocument/2006/relationships/slide" Target="slides/slide18.xml"/><Relationship Id="rId20" Type="http://schemas.openxmlformats.org/officeDocument/2006/relationships/slide" Target="slides/slide24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5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BOARD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6809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81F25"/>
                </a:solidFill>
                <a:latin typeface="Aptos Display"/>
              </a:rPr>
              <a:t>Build the HMS in-house.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81381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54937"/>
                </a:solidFill>
                <a:latin typeface="Aptos Display"/>
              </a:rPr>
              <a:t>Do not buy another locked vendor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58568"/>
            <a:ext cx="7818120" cy="5669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23C45"/>
                </a:solidFill>
                <a:latin typeface="Aptos"/>
              </a:rPr>
              <a:t>The decision is not only licence price. It is total cost of ownership, control over hospital workflows, and speed of compliance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4612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10712"/>
            <a:ext cx="191109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54937"/>
                </a:solidFill>
                <a:latin typeface="Aptos Display"/>
              </a:rP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646D78"/>
                </a:solidFill>
                <a:latin typeface="Aptos"/>
              </a:rPr>
              <a:t>new software licence if we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324612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3410712"/>
            <a:ext cx="191109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54937"/>
                </a:solidFill>
                <a:latin typeface="Aptos Display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3803904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646D78"/>
                </a:solidFill>
                <a:latin typeface="Aptos"/>
              </a:rPr>
              <a:t>modules already running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3246120"/>
            <a:ext cx="25146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5" y="3410712"/>
            <a:ext cx="218541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B57E37"/>
                </a:solidFill>
                <a:latin typeface="Aptos Display"/>
              </a:rPr>
              <a:t>600-bed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5" y="3803904"/>
            <a:ext cx="21854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646D78"/>
                </a:solidFill>
                <a:latin typeface="Aptos"/>
              </a:rPr>
              <a:t>SRS target scale; staged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078992"/>
            <a:ext cx="2697480" cy="388620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1389888"/>
            <a:ext cx="21945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4937"/>
                </a:solidFill>
                <a:latin typeface="Aptos"/>
              </a:rPr>
              <a:t>Opening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783080"/>
            <a:ext cx="2121408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1F25"/>
                </a:solidFill>
                <a:latin typeface="Aptos Display"/>
              </a:rPr>
              <a:t>In the first five minutes, the only question is whether Alagappa should own the platform or rent a vendor roadmap.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312724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3127248"/>
            <a:ext cx="183794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23C45"/>
                </a:solidFill>
                <a:latin typeface="Aptos"/>
              </a:rPr>
              <a:t>Lower 3-year TCO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34655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465576"/>
            <a:ext cx="183794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23C45"/>
                </a:solidFill>
                <a:latin typeface="Aptos"/>
              </a:rPr>
              <a:t>Faster new functionality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380390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03904"/>
            <a:ext cx="183794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23C45"/>
                </a:solidFill>
                <a:latin typeface="Aptos"/>
              </a:rPr>
              <a:t>No branch or data lock-in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646D78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TOTAL COST OF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The quote is only the down payment.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Most vendor options still need hosting, AMC, implementation, internal support, training and change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0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Aosta*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2587751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4519" y="2587751"/>
            <a:ext cx="4416552" cy="182880"/>
          </a:xfrm>
          <a:prstGeom prst="rect">
            <a:avLst/>
          </a:prstGeom>
          <a:solidFill>
            <a:srgbClr val="64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23744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D78"/>
                </a:solidFill>
                <a:latin typeface="Aptos"/>
              </a:rPr>
              <a:t>₹1.40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81527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Zoho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3108959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3108959"/>
            <a:ext cx="5867704" cy="182880"/>
          </a:xfrm>
          <a:prstGeom prst="rect">
            <a:avLst/>
          </a:prstGeom>
          <a:solidFill>
            <a:srgbClr val="64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44951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D78"/>
                </a:solidFill>
                <a:latin typeface="Aptos"/>
              </a:rPr>
              <a:t>₹1.86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02736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Nuvertos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3630168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4519" y="3630168"/>
            <a:ext cx="2870758" cy="182880"/>
          </a:xfrm>
          <a:prstGeom prst="rect">
            <a:avLst/>
          </a:prstGeom>
          <a:solidFill>
            <a:srgbClr val="64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566160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D78"/>
                </a:solidFill>
                <a:latin typeface="Aptos"/>
              </a:rPr>
              <a:t>₹91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23944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₹14L vendor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151376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4151376"/>
            <a:ext cx="1987448" cy="182880"/>
          </a:xfrm>
          <a:prstGeom prst="rect">
            <a:avLst/>
          </a:prstGeom>
          <a:solidFill>
            <a:srgbClr val="A74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087368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7453B"/>
                </a:solidFill>
                <a:latin typeface="Aptos"/>
              </a:rPr>
              <a:t>₹63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45151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In-house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672583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4672583"/>
            <a:ext cx="2586837" cy="18288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608576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4937"/>
                </a:solidFill>
                <a:latin typeface="Aptos"/>
              </a:rPr>
              <a:t>₹82 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2121408"/>
            <a:ext cx="1783080" cy="2578608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2359152"/>
            <a:ext cx="14173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57E37"/>
                </a:solidFill>
                <a:latin typeface="Aptos"/>
              </a:rPr>
              <a:t>Assumption fixed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715768"/>
            <a:ext cx="1389888" cy="96926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23C45"/>
                </a:solidFill>
                <a:latin typeface="Aptos"/>
              </a:rPr>
              <a:t>Aosta may include some managed ops. The final contract must confirm hosting, DR, support hours and upgrade scope.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3922776"/>
            <a:ext cx="138988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54937"/>
                </a:solidFill>
                <a:latin typeface="Aptos"/>
              </a:rPr>
              <a:t>In-house number includes cloud, DR and internal first-level support.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504688"/>
            <a:ext cx="3337560" cy="310896"/>
          </a:xfrm>
          <a:prstGeom prst="roundRect">
            <a:avLst/>
          </a:prstGeom>
          <a:solidFill>
            <a:srgbClr val="E8F1EB"/>
          </a:solidFill>
          <a:ln w="889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573268"/>
            <a:ext cx="3191256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26694E"/>
                </a:solidFill>
                <a:latin typeface="Aptos"/>
              </a:rPr>
              <a:t>Decision metric: compare 3-year TCO, not licence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925312"/>
            <a:ext cx="99669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46D78"/>
                </a:solidFill>
                <a:latin typeface="Aptos"/>
              </a:rPr>
              <a:t>*Aosta total shown conservatively; validate hosted operations and AMC terms before final negotiation.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646D78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SRS FIT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We meet the core HMS need; full 600-bed readiness is a staged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SRS asks for a cloud HMS with OPD/IPD, diagnostics, pharmacy, billing, mobile, TV/kiosk, HA and academic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30552"/>
            <a:ext cx="3337560" cy="315468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154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4937"/>
                </a:solidFill>
                <a:latin typeface="Aptos"/>
              </a:rPr>
              <a:t>Strong / usable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834640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OPD, patient registration,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6382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163824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IPD, beds, discharge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9300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493008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Lab, radiology, blood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221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822191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Pharmacy, billing, insurance,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513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4151376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Diet, CSSD, housekeeping, facilities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2130552"/>
            <a:ext cx="3337560" cy="3154680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7A28"/>
                </a:solidFill>
                <a:latin typeface="Aptos"/>
              </a:rPr>
              <a:t>Partial / pilot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3464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2834640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ABDM/NHCX registration activation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16382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163824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TV/kiosk and signage polish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9300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456" y="3493008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Offline packs and mobile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221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6" y="3822191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Inter-hospital transfers + ambulance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513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4151376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Medical college/LMS workflows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2130552"/>
            <a:ext cx="3337560" cy="3154680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A7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7453B"/>
                </a:solidFill>
                <a:latin typeface="Aptos"/>
              </a:rPr>
              <a:t>Roadmap before full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83464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2834640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99.99% HA + zero-downtime failover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16382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3163824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RPO &lt;15 min DR tier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349300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3493008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DICOM/PACS production gateway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8221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822191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Barcode closed-loop medication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41513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4151376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MDM/MFA enterprise rollout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5623560"/>
            <a:ext cx="101498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81F25"/>
                </a:solidFill>
                <a:latin typeface="Aptos"/>
              </a:rPr>
              <a:t>SRS conclusion: enough to approve an OPD-first launch path, but not honest to claim the entire 600-bed / medical college / HA target is fully complete today.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646D78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FUNCTIONALITY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The product depth is already the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A vendor can sell modules; in-house lets us change workflows when the hospital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Front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OPD / token /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8255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Clinical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EMR / CPOE / nursing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2776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Diagnostics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Lab / radiology / blood bank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7295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199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Pharmacy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NDPS / FEFO / billing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71815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19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HR / inventory / facilities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6336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21240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NABH / audit / DPDPA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4069080"/>
            <a:ext cx="3154680" cy="114300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4937"/>
                </a:solidFill>
                <a:latin typeface="Aptos"/>
              </a:rPr>
              <a:t>Add new functionality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23C45"/>
                </a:solidFill>
                <a:latin typeface="Aptos"/>
              </a:rPr>
              <a:t>No change-request queue. We can add department-specific flows as testing feedback arrives.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8264" y="4069080"/>
            <a:ext cx="3154680" cy="1143000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1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57E37"/>
                </a:solidFill>
                <a:latin typeface="Aptos"/>
              </a:rPr>
              <a:t>Own the data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23C45"/>
                </a:solidFill>
                <a:latin typeface="Aptos"/>
              </a:rPr>
              <a:t>Patient movement, billing, pharmacy, audit and compliance can stay linked instead of re-entered.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4069080"/>
            <a:ext cx="3154680" cy="114300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4937"/>
                </a:solidFill>
                <a:latin typeface="Aptos"/>
              </a:rPr>
              <a:t>Avoid branch lock-in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23C45"/>
                </a:solidFill>
                <a:latin typeface="Aptos"/>
              </a:rPr>
              <a:t>A second branch is configuration and infrastructure, not a fresh per-bed licence negotiation.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646D78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INTERNAL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Testing feedback changes the rollout plan, not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The product is viable; the remaining risk is workflow polish, support ownership and disciplined pilot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057400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4937"/>
                </a:solidFill>
                <a:latin typeface="Aptos"/>
              </a:rPr>
              <a:t>What testing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788920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Core patient, OPD, IPD, billing and pharmacy paths are demonstrable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91256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Screens need cleaner hand-offs and less manual 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593591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Diet/bedside/IPD linkages need polish before staff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2" y="2057400"/>
            <a:ext cx="3246120" cy="3246120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7E37"/>
                </a:solidFill>
                <a:latin typeface="Aptos"/>
              </a:rPr>
              <a:t>Controls before go-live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78892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788920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OPD + pharmacy pilot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319125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191256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Daily P0/P1 triage and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35935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593591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Named hardware/L1 support 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99592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995928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Parallel run before cutover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2057400"/>
            <a:ext cx="3246120" cy="324612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4937"/>
                </a:solidFill>
                <a:latin typeface="Aptos"/>
              </a:rPr>
              <a:t>Roadmap from SRS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278892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2788920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Mobile + offline pack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319125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191256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TV/kiosk final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35935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593591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Barcode medication/sampling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399592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995928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Growth-tier HA + DR rehearsal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605272"/>
            <a:ext cx="103327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1F25"/>
                </a:solidFill>
                <a:latin typeface="Aptos"/>
              </a:rPr>
              <a:t>This is how enterprise teams launch safely: small pilot, visible defect queue, support desk, and staged expansion.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646D78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DECISION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Approve build, team and controlled rollout.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The board decision is to avoid another vendor lock-in cycle and run the in-house HMS like an enterprise implementation.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148840"/>
            <a:ext cx="475488" cy="475488"/>
          </a:xfrm>
          <a:prstGeom prst="ellipse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4852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130552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4937"/>
                </a:solidFill>
                <a:latin typeface="Aptos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30552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23C45"/>
                </a:solidFill>
                <a:latin typeface="Aptos"/>
              </a:rPr>
              <a:t>Approve 3-year TCO envelope: cloud, DR, hardware, internal L1 support and two engineers.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264408"/>
            <a:ext cx="475488" cy="475488"/>
          </a:xfrm>
          <a:prstGeom prst="ellipse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60420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246120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4937"/>
                </a:solidFill>
                <a:latin typeface="Aptos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246120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23C45"/>
                </a:solidFill>
                <a:latin typeface="Aptos"/>
              </a:rPr>
              <a:t>Hire two senior engineers. I lead architecture, delivery and vendor/regulatory integration.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379976"/>
            <a:ext cx="475488" cy="475488"/>
          </a:xfrm>
          <a:prstGeom prst="ellipse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75988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361688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57E37"/>
                </a:solidFill>
                <a:latin typeface="Aptos"/>
              </a:rP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361688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23C45"/>
                </a:solidFill>
                <a:latin typeface="Aptos"/>
              </a:rPr>
              <a:t>Start OPD + pharmacy pilot, then IPD/lab/radiology after daily testing feedback stabilizes.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32120"/>
            <a:ext cx="10287000" cy="512064"/>
          </a:xfrm>
          <a:prstGeom prst="roundRect">
            <a:avLst/>
          </a:prstGeom>
          <a:solidFill>
            <a:srgbClr val="154937"/>
          </a:solidFill>
          <a:ln w="10160">
            <a:solidFill>
              <a:srgbClr val="154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696712"/>
            <a:ext cx="9875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ptos"/>
              </a:rPr>
              <a:t>Close: We save money, keep control, and build the technology capability Alagappa will need for the next decade.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646D7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ME ·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I've already </a:t>
            </a:r>
            <a:r>
              <a:rPr sz="3600" b="0" i="1">
                <a:solidFill>
                  <a:srgbClr val="1F4332"/>
                </a:solidFill>
                <a:latin typeface="Fraunces"/>
              </a:rPr>
              <a:t>built</a:t>
            </a:r>
            <a:r>
              <a:rPr sz="3600" b="0" i="0">
                <a:solidFill>
                  <a:srgbClr val="0F1412"/>
                </a:solidFill>
                <a:latin typeface="Fraunces"/>
              </a:rPr>
              <a:t> 80%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18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solo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architected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998 / 2,566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features 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production-ready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250k+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lines of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 + 3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regulators wired (3 pending registration)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STACK MASTERY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Rust 2024 (zero unsafe, clippy::pedantic clean)  ·  Axum 0.8  ·  PostgreSQL 16 + 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React 18  ·  Mantine v7  ·  TanStack Query  ·  Zustand  ·  Biome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JWE/JWS crypto  ·  FHIR R4  ·  HL7 v2 MLLP  ·  NHCX  ·  ABDM  ·  DLT  ·  SpiceDB ReBAC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ADMIN, FINANCE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Plus the layers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vendors charge extra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Administrative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Front Office — visitors, queue, enquiry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HR — designations, roster,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Multi-Hospital — branch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Facilities — gas, fire, water,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IT Security — RBAC, audit 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CMS — content + signage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Inventory + Procurement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Housekeeping · Linen · Ambulance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Financial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Billing 1+2+3 — invoices,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GST — GSTR-1, HSN, IRP-ready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TDS + 26AS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— schemes, rate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— preauth + claim + JWE/JWS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TPA bank reconciliation 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receivables 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Journal entries · P&amp;L · 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Integrations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ABDM code ready · registration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preauth/claim built · participant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FHIR R4 — Patient/Encounter/Bundle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HL7 v2 MLLP listener (analyzers)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Twilio SMS + DLT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WhatsApp Cloud API (Meta) · SendGrid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PCPNDT · MLC · PvPI · CDSCO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Consent · DPDPA ·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2 senior engineers + me + internal hardware / first-level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Internal Hardware + L1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Already on staff / ops desk — servers, network, devices, first-level tickets,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Two senior engineers handle product + backend/frontend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Hardware and first-level support stay internal either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CRDT · WHY OUR APP KEEPS WORKING WHEN WIFI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Drop the WiFi.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Keep the patient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A706D"/>
                </a:solidFill>
                <a:latin typeface="Inter Tight"/>
              </a:rPr>
              <a:t>CRDT (Conflict-free Replicated Data Types) — the math behind Google Docs, Notion, Figma. We use it for clinical data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Fraunces"/>
              </a:rPr>
              <a:t>Vendor system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Nurse charting → WiFi drops → notes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Two devices on same patient → last save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OPD camp in village → no internet → can't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Rural sub-centre → manual paper, re-entry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Doctor on rounds → tablet won't sync, frustrated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332"/>
                </a:solidFill>
                <a:latin typeface="Fraunces"/>
              </a:rPr>
              <a:t>With CRDT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WiFi drops → keep typing, syncs when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Both devices edit → merges automatically, no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Camps run fully offline → upload at 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Sub-centres sync on 4G when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Doctor never sees a 'sync conflict' popup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BOTTOM-LINE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10–20 min/day saved per nurse on save-and-wait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7900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Zero clinical-note loss incidents (vs dozens/year on legacy systems)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25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Rural camps + sub-centres become viable revenue lines (offline-first)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Lower cloud costs — fewer sync round-trips, fewer DB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Approve in May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Begin Y2 sales prep · first sister-hospital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Y2 reseller revenue begins · 2 partner hospitals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LOCK-IN TRAP · WHY HOSPITAL HMS IS BAD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412"/>
                </a:solidFill>
                <a:latin typeface="Fraunces"/>
              </a:rPr>
              <a:t>It's not a contract. </a:t>
            </a:r>
            <a:r>
              <a:rPr sz="3400" b="1" i="1">
                <a:solidFill>
                  <a:srgbClr val="B8924A"/>
                </a:solidFill>
                <a:latin typeface="Fraunces"/>
              </a:rPr>
              <a:t>It's a marriage.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Every feature request becomes a money request. Every regulation change becomes a quote. Every branch becomes another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"Add WhatsApp prescription delivery."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₹1.5 L change request · 3 months 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"ABDM spec just updated — please patch."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Compliance module v3.1 · ₹4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"We're opening a second branch."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Per-bed licence × new beds · ₹2 L/bed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to integrate the new lab analyzer."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API access fee · ₹3 L + integration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"GST e-invoice IRN — when?"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On our roadmap · 6-9 months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our data and want to leave."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Custom export · quote pending · 3 mo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89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After 3 years AMC = original licence. </a:t>
            </a:r>
            <a:r>
              <a:rPr sz="1100" b="1" i="0">
                <a:solidFill>
                  <a:srgbClr val="8E6F32"/>
                </a:solidFill>
                <a:latin typeface="Inter Tight"/>
              </a:rPr>
              <a:t>After 5 = double. After 10 = you can't afford to leave. </a:t>
            </a:r>
            <a:r>
              <a:rPr sz="1100" b="1" i="0">
                <a:solidFill>
                  <a:srgbClr val="1F4332"/>
                </a:solidFill>
                <a:latin typeface="Inter Tight"/>
              </a:rPr>
              <a:t>In-house = no exit cost, ever.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 we actually pay before patients walk in, including internal hardware ops and first-level support.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hardware + network ops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first-level helpdesk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 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₹78 L typical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Pre-launch saving remains ~₹50 L, and the same internal L1 support is useful even if we buy a vendor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TECH CHOICES · WHY CLOUD + OPS COST STAYS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Rust isn't a fashion choice.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It's a cost choice.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Stack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Memory / req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Throughput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Servers (200-bed)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Cloud / mo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PHP / Laravel (legacy HMS)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4 × 8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₹40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Java / Spring (Aosta-class)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2–4 GB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1.5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8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₹35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Node.js / NestJS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₹18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Python / Django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150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800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₹22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Elixir / Phoenix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Rust / Axum (us)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80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12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₹8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Java / Spring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5× lower memory · no GC pauses · single 8 MB binary · no 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Java keeps 2–4 GB hot per process. Rust runs on a Raspberry 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Elixir /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Compile-time safety · zero runtime type errors · 2× faster than Elixir on DB-heavy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Hospital correctness &gt; BEAM fault tolerance. Bugs caught before they hit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Python / 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50–100× throughput · true parallelism · no monkey-patching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Most legacy HMS (Aosta, Suvarna) are PHP/.NET. They will not scale to ABDM.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400800"/>
            <a:ext cx="11155680" cy="164592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STRATEGIC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Sell it to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peer hospitals.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~12,000 mid-cap Indian hospitals paying ₹2–5 L/bed today. Alagappa as the seller, not Suvarna's salesman.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 tier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Buyer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₹50K/bed + 15% AMC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Sister hospitals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Regional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₹75K/bed + 18% AMC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TN / South India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White-label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30–40% rev share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Hospital chains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SaaS hosted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₹2,500/bed/month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Small clinics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Year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Deployments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Revenue (conservative)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Y1 (Alagappa internal)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Y2 — first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Y4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6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₹4.5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Y5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5-yr cumulative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~20 hospitals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~₹15.5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Why Alagappa wins this market: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Peer-hospital trust beats vendor sales · ✓  Best reference call after 12 months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Tamil-language ready for TN/Pondi/Andhra · ✓  Existing referral network through doctors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>
                <a:solidFill>
                  <a:srgbClr val="646D78"/>
                </a:solidFill>
              </a:rPr>
              <a:t>Backup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